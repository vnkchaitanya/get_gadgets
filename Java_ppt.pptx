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257" r:id="rId3"/>
    <p:sldId id="258" r:id="rId4"/>
    <p:sldId id="259" r:id="rId5"/>
    <p:sldId id="274" r:id="rId6"/>
    <p:sldId id="278" r:id="rId7"/>
    <p:sldId id="280" r:id="rId8"/>
    <p:sldId id="283" r:id="rId9"/>
    <p:sldId id="286" r:id="rId10"/>
    <p:sldId id="285" r:id="rId11"/>
    <p:sldId id="271" r:id="rId12"/>
    <p:sldId id="281" r:id="rId13"/>
    <p:sldId id="287" r:id="rId14"/>
    <p:sldId id="289" r:id="rId15"/>
    <p:sldId id="288" r:id="rId16"/>
    <p:sldId id="292" r:id="rId17"/>
    <p:sldId id="290" r:id="rId18"/>
    <p:sldId id="291" r:id="rId19"/>
    <p:sldId id="268" r:id="rId20"/>
    <p:sldId id="269" r:id="rId21"/>
  </p:sldIdLst>
  <p:sldSz cx="10058400" cy="7772400"/>
  <p:notesSz cx="10058400" cy="7772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244" autoAdjust="0"/>
    <p:restoredTop sz="94660"/>
  </p:normalViewPr>
  <p:slideViewPr>
    <p:cSldViewPr>
      <p:cViewPr varScale="1">
        <p:scale>
          <a:sx n="74" d="100"/>
          <a:sy n="74" d="100"/>
        </p:scale>
        <p:origin x="1795" y="7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0B419B0A-DB98-47ED-A0D2-B47FD394FE07}" type="datetimeFigureOut">
              <a:rPr lang="en-IN" smtClean="0"/>
              <a:t>05-04-2026</a:t>
            </a:fld>
            <a:endParaRPr lang="en-IN"/>
          </a:p>
        </p:txBody>
      </p:sp>
      <p:sp>
        <p:nvSpPr>
          <p:cNvPr id="4" name="Slide Image Placeholder 3"/>
          <p:cNvSpPr>
            <a:spLocks noGrp="1" noRot="1" noChangeAspect="1"/>
          </p:cNvSpPr>
          <p:nvPr>
            <p:ph type="sldImg" idx="2"/>
          </p:nvPr>
        </p:nvSpPr>
        <p:spPr>
          <a:xfrm>
            <a:off x="3332163" y="971550"/>
            <a:ext cx="3394075" cy="26225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67E471F2-2083-493A-8C9E-53209FFA1EC8}" type="slidenum">
              <a:rPr lang="en-IN" smtClean="0"/>
              <a:t>‹#›</a:t>
            </a:fld>
            <a:endParaRPr lang="en-IN"/>
          </a:p>
        </p:txBody>
      </p:sp>
    </p:spTree>
    <p:extLst>
      <p:ext uri="{BB962C8B-B14F-4D97-AF65-F5344CB8AC3E}">
        <p14:creationId xmlns:p14="http://schemas.microsoft.com/office/powerpoint/2010/main" val="446813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A07A5-14C6-E585-8655-9D9D52E50E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A451EA-1440-E913-BE4A-B614B423C8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2B861F-0E31-A9FE-3DE3-C88AA9FDC23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BB3FD6E-6CD7-73E7-5843-F5D2AC9D0C79}"/>
              </a:ext>
            </a:extLst>
          </p:cNvPr>
          <p:cNvSpPr>
            <a:spLocks noGrp="1"/>
          </p:cNvSpPr>
          <p:nvPr>
            <p:ph type="sldNum" sz="quarter" idx="10"/>
          </p:nvPr>
        </p:nvSpPr>
        <p:spPr/>
        <p:txBody>
          <a:bodyPr/>
          <a:lstStyle/>
          <a:p>
            <a:fld id="{67E471F2-2083-493A-8C9E-53209FFA1EC8}" type="slidenum">
              <a:rPr lang="en-IN" smtClean="0"/>
              <a:t>7</a:t>
            </a:fld>
            <a:endParaRPr lang="en-IN"/>
          </a:p>
        </p:txBody>
      </p:sp>
    </p:spTree>
    <p:extLst>
      <p:ext uri="{BB962C8B-B14F-4D97-AF65-F5344CB8AC3E}">
        <p14:creationId xmlns:p14="http://schemas.microsoft.com/office/powerpoint/2010/main" val="37661188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D6944-C75D-642A-33EC-861C4C9EE3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B92471-DA30-4B37-FCA6-6EF20124DB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1FE530-0FC2-EC25-4907-8124FE661A5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03AE0AE-6066-70F2-58D0-DE497EDE96FC}"/>
              </a:ext>
            </a:extLst>
          </p:cNvPr>
          <p:cNvSpPr>
            <a:spLocks noGrp="1"/>
          </p:cNvSpPr>
          <p:nvPr>
            <p:ph type="sldNum" sz="quarter" idx="10"/>
          </p:nvPr>
        </p:nvSpPr>
        <p:spPr/>
        <p:txBody>
          <a:bodyPr/>
          <a:lstStyle/>
          <a:p>
            <a:fld id="{67E471F2-2083-493A-8C9E-53209FFA1EC8}" type="slidenum">
              <a:rPr lang="en-IN" smtClean="0"/>
              <a:t>8</a:t>
            </a:fld>
            <a:endParaRPr lang="en-IN"/>
          </a:p>
        </p:txBody>
      </p:sp>
    </p:spTree>
    <p:extLst>
      <p:ext uri="{BB962C8B-B14F-4D97-AF65-F5344CB8AC3E}">
        <p14:creationId xmlns:p14="http://schemas.microsoft.com/office/powerpoint/2010/main" val="36370596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139B1-A475-4CBB-3C79-9D26E5A866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1C7ED2-D36F-F380-B914-E293551BC2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291147-730F-8489-F314-EBBEE6FC150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B461C2B-CF90-5661-FD6B-4743F3CA884B}"/>
              </a:ext>
            </a:extLst>
          </p:cNvPr>
          <p:cNvSpPr>
            <a:spLocks noGrp="1"/>
          </p:cNvSpPr>
          <p:nvPr>
            <p:ph type="sldNum" sz="quarter" idx="10"/>
          </p:nvPr>
        </p:nvSpPr>
        <p:spPr/>
        <p:txBody>
          <a:bodyPr/>
          <a:lstStyle/>
          <a:p>
            <a:fld id="{67E471F2-2083-493A-8C9E-53209FFA1EC8}" type="slidenum">
              <a:rPr lang="en-IN" smtClean="0"/>
              <a:t>9</a:t>
            </a:fld>
            <a:endParaRPr lang="en-IN"/>
          </a:p>
        </p:txBody>
      </p:sp>
    </p:spTree>
    <p:extLst>
      <p:ext uri="{BB962C8B-B14F-4D97-AF65-F5344CB8AC3E}">
        <p14:creationId xmlns:p14="http://schemas.microsoft.com/office/powerpoint/2010/main" val="16882209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C70F2-0EF9-0550-A72E-404207C35D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700AA8-577A-B5F3-39C0-0D9C6D252B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A2C486-2F3A-630C-86E2-8D8A883F7AE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50BFAA6-56A9-3BDB-EAC1-346BC26C210F}"/>
              </a:ext>
            </a:extLst>
          </p:cNvPr>
          <p:cNvSpPr>
            <a:spLocks noGrp="1"/>
          </p:cNvSpPr>
          <p:nvPr>
            <p:ph type="sldNum" sz="quarter" idx="10"/>
          </p:nvPr>
        </p:nvSpPr>
        <p:spPr/>
        <p:txBody>
          <a:bodyPr/>
          <a:lstStyle/>
          <a:p>
            <a:fld id="{67E471F2-2083-493A-8C9E-53209FFA1EC8}" type="slidenum">
              <a:rPr lang="en-IN" smtClean="0"/>
              <a:t>10</a:t>
            </a:fld>
            <a:endParaRPr lang="en-IN"/>
          </a:p>
        </p:txBody>
      </p:sp>
    </p:spTree>
    <p:extLst>
      <p:ext uri="{BB962C8B-B14F-4D97-AF65-F5344CB8AC3E}">
        <p14:creationId xmlns:p14="http://schemas.microsoft.com/office/powerpoint/2010/main" val="16431009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7E471F2-2083-493A-8C9E-53209FFA1EC8}" type="slidenum">
              <a:rPr lang="en-IN" smtClean="0"/>
              <a:t>11</a:t>
            </a:fld>
            <a:endParaRPr lang="en-IN"/>
          </a:p>
        </p:txBody>
      </p:sp>
    </p:spTree>
    <p:extLst>
      <p:ext uri="{BB962C8B-B14F-4D97-AF65-F5344CB8AC3E}">
        <p14:creationId xmlns:p14="http://schemas.microsoft.com/office/powerpoint/2010/main" val="20061069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CE3C7-4CAC-83C5-06C3-42A79AAC39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C8F73F-5430-C4C7-24B7-978CB7B2CD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AD4E0F-8063-6714-0B2B-C4C7BFB3BB0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6220EE7-BED2-805A-A166-2B514D3FD98E}"/>
              </a:ext>
            </a:extLst>
          </p:cNvPr>
          <p:cNvSpPr>
            <a:spLocks noGrp="1"/>
          </p:cNvSpPr>
          <p:nvPr>
            <p:ph type="sldNum" sz="quarter" idx="10"/>
          </p:nvPr>
        </p:nvSpPr>
        <p:spPr/>
        <p:txBody>
          <a:bodyPr/>
          <a:lstStyle/>
          <a:p>
            <a:fld id="{67E471F2-2083-493A-8C9E-53209FFA1EC8}" type="slidenum">
              <a:rPr lang="en-IN" smtClean="0"/>
              <a:t>12</a:t>
            </a:fld>
            <a:endParaRPr lang="en-IN"/>
          </a:p>
        </p:txBody>
      </p:sp>
    </p:spTree>
    <p:extLst>
      <p:ext uri="{BB962C8B-B14F-4D97-AF65-F5344CB8AC3E}">
        <p14:creationId xmlns:p14="http://schemas.microsoft.com/office/powerpoint/2010/main" val="3401301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565D4-DEED-8F77-7875-441F7EC657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20EE74-7167-873A-95DE-2209D38A4B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CB17A6-C5DF-DF2F-3449-59AE0E1E523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2A6B2E7-A9E4-7C60-5E8B-7C360EA4C31A}"/>
              </a:ext>
            </a:extLst>
          </p:cNvPr>
          <p:cNvSpPr>
            <a:spLocks noGrp="1"/>
          </p:cNvSpPr>
          <p:nvPr>
            <p:ph type="sldNum" sz="quarter" idx="10"/>
          </p:nvPr>
        </p:nvSpPr>
        <p:spPr/>
        <p:txBody>
          <a:bodyPr/>
          <a:lstStyle/>
          <a:p>
            <a:fld id="{67E471F2-2083-493A-8C9E-53209FFA1EC8}" type="slidenum">
              <a:rPr lang="en-IN" smtClean="0"/>
              <a:t>13</a:t>
            </a:fld>
            <a:endParaRPr lang="en-IN"/>
          </a:p>
        </p:txBody>
      </p:sp>
    </p:spTree>
    <p:extLst>
      <p:ext uri="{BB962C8B-B14F-4D97-AF65-F5344CB8AC3E}">
        <p14:creationId xmlns:p14="http://schemas.microsoft.com/office/powerpoint/2010/main" val="113217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78334-1E7C-9B5D-22F4-8A0874D2C7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CA05E5-57D3-9020-E1E8-13EECF182C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DE5D61-29D8-36CA-3B49-ED30EB6DC96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6A6CBA9-998B-04E1-4DEE-A9C50489770F}"/>
              </a:ext>
            </a:extLst>
          </p:cNvPr>
          <p:cNvSpPr>
            <a:spLocks noGrp="1"/>
          </p:cNvSpPr>
          <p:nvPr>
            <p:ph type="sldNum" sz="quarter" idx="10"/>
          </p:nvPr>
        </p:nvSpPr>
        <p:spPr/>
        <p:txBody>
          <a:bodyPr/>
          <a:lstStyle/>
          <a:p>
            <a:fld id="{67E471F2-2083-493A-8C9E-53209FFA1EC8}" type="slidenum">
              <a:rPr lang="en-IN" smtClean="0"/>
              <a:t>14</a:t>
            </a:fld>
            <a:endParaRPr lang="en-IN"/>
          </a:p>
        </p:txBody>
      </p:sp>
    </p:spTree>
    <p:extLst>
      <p:ext uri="{BB962C8B-B14F-4D97-AF65-F5344CB8AC3E}">
        <p14:creationId xmlns:p14="http://schemas.microsoft.com/office/powerpoint/2010/main" val="37506980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0228F-58ED-A8A9-83F6-417BF9E8F1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6092AC-450B-ED20-CC0E-863B8D3FB2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5D67FF-E9BF-B02A-BB9A-F8D92EE150D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648B14A-9DA2-06A7-BD4E-CC42A4DF4C5A}"/>
              </a:ext>
            </a:extLst>
          </p:cNvPr>
          <p:cNvSpPr>
            <a:spLocks noGrp="1"/>
          </p:cNvSpPr>
          <p:nvPr>
            <p:ph type="sldNum" sz="quarter" idx="10"/>
          </p:nvPr>
        </p:nvSpPr>
        <p:spPr/>
        <p:txBody>
          <a:bodyPr/>
          <a:lstStyle/>
          <a:p>
            <a:fld id="{67E471F2-2083-493A-8C9E-53209FFA1EC8}" type="slidenum">
              <a:rPr lang="en-IN" smtClean="0"/>
              <a:t>15</a:t>
            </a:fld>
            <a:endParaRPr lang="en-IN"/>
          </a:p>
        </p:txBody>
      </p:sp>
    </p:spTree>
    <p:extLst>
      <p:ext uri="{BB962C8B-B14F-4D97-AF65-F5344CB8AC3E}">
        <p14:creationId xmlns:p14="http://schemas.microsoft.com/office/powerpoint/2010/main" val="9187341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4C17E-A8E1-635A-BDE5-6195512135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36407C-97BB-3A3F-3E8A-4A8EFB6810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1129B9-8F29-E3B1-DD37-A7BC86A6076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AD802A6-E513-21D7-E58D-0B4C381F1BDD}"/>
              </a:ext>
            </a:extLst>
          </p:cNvPr>
          <p:cNvSpPr>
            <a:spLocks noGrp="1"/>
          </p:cNvSpPr>
          <p:nvPr>
            <p:ph type="sldNum" sz="quarter" idx="10"/>
          </p:nvPr>
        </p:nvSpPr>
        <p:spPr/>
        <p:txBody>
          <a:bodyPr/>
          <a:lstStyle/>
          <a:p>
            <a:fld id="{67E471F2-2083-493A-8C9E-53209FFA1EC8}" type="slidenum">
              <a:rPr lang="en-IN" smtClean="0"/>
              <a:t>16</a:t>
            </a:fld>
            <a:endParaRPr lang="en-IN"/>
          </a:p>
        </p:txBody>
      </p:sp>
    </p:spTree>
    <p:extLst>
      <p:ext uri="{BB962C8B-B14F-4D97-AF65-F5344CB8AC3E}">
        <p14:creationId xmlns:p14="http://schemas.microsoft.com/office/powerpoint/2010/main" val="31533030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p:txBody>
          <a:bodyPr lIns="0" tIns="0" rIns="0" bIns="0"/>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4/5/2026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4/5/2026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648056" y="258722"/>
            <a:ext cx="4601366" cy="704793"/>
          </a:xfrm>
          <a:prstGeom prst="rect">
            <a:avLst/>
          </a:prstGeom>
        </p:spPr>
      </p:pic>
      <p:pic>
        <p:nvPicPr>
          <p:cNvPr id="17" name="bg object 17"/>
          <p:cNvPicPr/>
          <p:nvPr/>
        </p:nvPicPr>
        <p:blipFill>
          <a:blip r:embed="rId3" cstate="print"/>
          <a:stretch>
            <a:fillRect/>
          </a:stretch>
        </p:blipFill>
        <p:spPr>
          <a:xfrm>
            <a:off x="2530316" y="125730"/>
            <a:ext cx="4997767" cy="1045130"/>
          </a:xfrm>
          <a:prstGeom prst="rect">
            <a:avLst/>
          </a:prstGeom>
        </p:spPr>
      </p:pic>
      <p:pic>
        <p:nvPicPr>
          <p:cNvPr id="18" name="bg object 18"/>
          <p:cNvPicPr/>
          <p:nvPr/>
        </p:nvPicPr>
        <p:blipFill>
          <a:blip r:embed="rId4" cstate="print"/>
          <a:stretch>
            <a:fillRect/>
          </a:stretch>
        </p:blipFill>
        <p:spPr>
          <a:xfrm>
            <a:off x="2663904" y="251407"/>
            <a:ext cx="4577410" cy="506849"/>
          </a:xfrm>
          <a:prstGeom prst="rect">
            <a:avLst/>
          </a:prstGeom>
        </p:spPr>
      </p:pic>
      <p:sp>
        <p:nvSpPr>
          <p:cNvPr id="19" name="bg object 19"/>
          <p:cNvSpPr/>
          <p:nvPr/>
        </p:nvSpPr>
        <p:spPr>
          <a:xfrm>
            <a:off x="2718911" y="290750"/>
            <a:ext cx="4471670" cy="400685"/>
          </a:xfrm>
          <a:custGeom>
            <a:avLst/>
            <a:gdLst/>
            <a:ahLst/>
            <a:cxnLst/>
            <a:rect l="l" t="t" r="r" b="b"/>
            <a:pathLst>
              <a:path w="4471670" h="400684">
                <a:moveTo>
                  <a:pt x="4386510" y="0"/>
                </a:moveTo>
                <a:lnTo>
                  <a:pt x="84762" y="0"/>
                </a:lnTo>
                <a:lnTo>
                  <a:pt x="51758" y="5238"/>
                </a:lnTo>
                <a:lnTo>
                  <a:pt x="24831" y="19592"/>
                </a:lnTo>
                <a:lnTo>
                  <a:pt x="6705" y="40757"/>
                </a:lnTo>
                <a:lnTo>
                  <a:pt x="0" y="66741"/>
                </a:lnTo>
                <a:lnTo>
                  <a:pt x="0" y="333813"/>
                </a:lnTo>
                <a:lnTo>
                  <a:pt x="6705" y="359797"/>
                </a:lnTo>
                <a:lnTo>
                  <a:pt x="24831" y="381066"/>
                </a:lnTo>
                <a:lnTo>
                  <a:pt x="51758" y="395316"/>
                </a:lnTo>
                <a:lnTo>
                  <a:pt x="84762" y="400554"/>
                </a:lnTo>
                <a:lnTo>
                  <a:pt x="4386510" y="400554"/>
                </a:lnTo>
                <a:lnTo>
                  <a:pt x="4419514" y="395316"/>
                </a:lnTo>
                <a:lnTo>
                  <a:pt x="4446441" y="381066"/>
                </a:lnTo>
                <a:lnTo>
                  <a:pt x="4464567" y="359797"/>
                </a:lnTo>
                <a:lnTo>
                  <a:pt x="4471273" y="333813"/>
                </a:lnTo>
                <a:lnTo>
                  <a:pt x="4471273" y="66741"/>
                </a:lnTo>
                <a:lnTo>
                  <a:pt x="4464567" y="40757"/>
                </a:lnTo>
                <a:lnTo>
                  <a:pt x="4446441" y="19592"/>
                </a:lnTo>
                <a:lnTo>
                  <a:pt x="4419514" y="5238"/>
                </a:lnTo>
                <a:lnTo>
                  <a:pt x="4386510" y="0"/>
                </a:lnTo>
                <a:close/>
              </a:path>
            </a:pathLst>
          </a:custGeom>
          <a:solidFill>
            <a:srgbClr val="FF6600"/>
          </a:solidFill>
        </p:spPr>
        <p:txBody>
          <a:bodyPr wrap="square" lIns="0" tIns="0" rIns="0" bIns="0" rtlCol="0"/>
          <a:lstStyle/>
          <a:p>
            <a:endParaRPr/>
          </a:p>
        </p:txBody>
      </p:sp>
      <p:pic>
        <p:nvPicPr>
          <p:cNvPr id="20" name="bg object 20"/>
          <p:cNvPicPr/>
          <p:nvPr/>
        </p:nvPicPr>
        <p:blipFill>
          <a:blip r:embed="rId5" cstate="print"/>
          <a:stretch>
            <a:fillRect/>
          </a:stretch>
        </p:blipFill>
        <p:spPr>
          <a:xfrm>
            <a:off x="3292554" y="282840"/>
            <a:ext cx="3375117" cy="569714"/>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4/5/2026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30970" y="881554"/>
            <a:ext cx="2528570" cy="37528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a:xfrm>
            <a:off x="621188" y="1409149"/>
            <a:ext cx="8949055" cy="3294379"/>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4/5/2026</a:t>
            </a:fld>
            <a:endParaRPr lang="en-US"/>
          </a:p>
        </p:txBody>
      </p:sp>
      <p:sp>
        <p:nvSpPr>
          <p:cNvPr id="6" name="Holder 6"/>
          <p:cNvSpPr>
            <a:spLocks noGrp="1"/>
          </p:cNvSpPr>
          <p:nvPr>
            <p:ph type="sldNum" sz="quarter" idx="7"/>
          </p:nvPr>
        </p:nvSpPr>
        <p:spPr>
          <a:xfrm>
            <a:off x="7242048" y="7228332"/>
            <a:ext cx="2313432" cy="3886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7.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hyperlink" Target="https://www.w3schools.com/java/" TargetMode="External"/><Relationship Id="rId7" Type="http://schemas.openxmlformats.org/officeDocument/2006/relationships/image" Target="../media/image6.jpg"/><Relationship Id="rId2" Type="http://schemas.openxmlformats.org/officeDocument/2006/relationships/hyperlink" Target="https://docs.oracle.com/javase" TargetMode="Externa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2.pn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93969" y="211046"/>
            <a:ext cx="4610910" cy="628649"/>
          </a:xfrm>
          <a:prstGeom prst="rect">
            <a:avLst/>
          </a:prstGeom>
        </p:spPr>
      </p:pic>
      <p:sp>
        <p:nvSpPr>
          <p:cNvPr id="3" name="object 3"/>
          <p:cNvSpPr txBox="1">
            <a:spLocks noGrp="1"/>
          </p:cNvSpPr>
          <p:nvPr>
            <p:ph type="title"/>
          </p:nvPr>
        </p:nvSpPr>
        <p:spPr>
          <a:xfrm>
            <a:off x="1447800" y="1076308"/>
            <a:ext cx="7467599" cy="1012585"/>
          </a:xfrm>
          <a:prstGeom prst="rect">
            <a:avLst/>
          </a:prstGeom>
        </p:spPr>
        <p:txBody>
          <a:bodyPr vert="horz" wrap="square" lIns="0" tIns="11430" rIns="0" bIns="0" rtlCol="0">
            <a:spAutoFit/>
          </a:bodyPr>
          <a:lstStyle/>
          <a:p>
            <a:pPr marL="12700" algn="ctr">
              <a:lnSpc>
                <a:spcPct val="150000"/>
              </a:lnSpc>
              <a:spcBef>
                <a:spcPts val="90"/>
              </a:spcBef>
            </a:pPr>
            <a:r>
              <a:rPr lang="en-IN" sz="2400" spc="-10" dirty="0">
                <a:latin typeface="Times New Roman" panose="02020603050405020304" pitchFamily="18" charset="0"/>
                <a:cs typeface="Times New Roman" panose="02020603050405020304" pitchFamily="18" charset="0"/>
              </a:rPr>
              <a:t>Java Programming Cornerstone Project</a:t>
            </a:r>
            <a:br>
              <a:rPr lang="en-IN" sz="2200" spc="-10" dirty="0">
                <a:latin typeface="Times New Roman" panose="02020603050405020304" pitchFamily="18" charset="0"/>
                <a:cs typeface="Times New Roman" panose="02020603050405020304" pitchFamily="18" charset="0"/>
              </a:rPr>
            </a:br>
            <a:r>
              <a:rPr lang="en-IN" sz="2200" spc="-10" dirty="0">
                <a:latin typeface="Times New Roman" panose="02020603050405020304" pitchFamily="18" charset="0"/>
                <a:cs typeface="Times New Roman" panose="02020603050405020304" pitchFamily="18" charset="0"/>
              </a:rPr>
              <a:t>Final Review</a:t>
            </a:r>
            <a:endParaRPr sz="2200" spc="-10" dirty="0">
              <a:latin typeface="Times New Roman" panose="02020603050405020304" pitchFamily="18" charset="0"/>
              <a:cs typeface="Times New Roman" panose="02020603050405020304" pitchFamily="18" charset="0"/>
            </a:endParaRPr>
          </a:p>
        </p:txBody>
      </p:sp>
      <p:sp>
        <p:nvSpPr>
          <p:cNvPr id="4" name="object 4"/>
          <p:cNvSpPr txBox="1">
            <a:spLocks noGrp="1"/>
          </p:cNvSpPr>
          <p:nvPr>
            <p:ph type="body" idx="1"/>
          </p:nvPr>
        </p:nvSpPr>
        <p:spPr>
          <a:xfrm>
            <a:off x="653494" y="2514600"/>
            <a:ext cx="8751412" cy="3548407"/>
          </a:xfrm>
          <a:prstGeom prst="rect">
            <a:avLst/>
          </a:prstGeom>
        </p:spPr>
        <p:txBody>
          <a:bodyPr vert="horz" wrap="square" lIns="0" tIns="16510" rIns="0" bIns="0" rtlCol="0">
            <a:spAutoFit/>
          </a:bodyPr>
          <a:lstStyle/>
          <a:p>
            <a:pPr algn="ctr">
              <a:lnSpc>
                <a:spcPct val="100000"/>
              </a:lnSpc>
              <a:spcBef>
                <a:spcPts val="130"/>
              </a:spcBef>
            </a:pPr>
            <a:r>
              <a:rPr lang="en-IN" sz="2400" dirty="0"/>
              <a:t>E – Commerce Simulator</a:t>
            </a:r>
          </a:p>
          <a:p>
            <a:pPr algn="ctr">
              <a:lnSpc>
                <a:spcPct val="100000"/>
              </a:lnSpc>
              <a:spcBef>
                <a:spcPts val="130"/>
              </a:spcBef>
            </a:pPr>
            <a:endParaRPr lang="en-IN"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r>
              <a:rPr sz="2200" dirty="0">
                <a:solidFill>
                  <a:srgbClr val="FF0000"/>
                </a:solidFill>
                <a:latin typeface="Times New Roman" panose="02020603050405020304" pitchFamily="18" charset="0"/>
                <a:cs typeface="Times New Roman" panose="02020603050405020304" pitchFamily="18" charset="0"/>
              </a:rPr>
              <a:t>Presented</a:t>
            </a:r>
            <a:r>
              <a:rPr sz="2200" spc="80" dirty="0">
                <a:solidFill>
                  <a:srgbClr val="FF0000"/>
                </a:solidFill>
                <a:latin typeface="Times New Roman" panose="02020603050405020304" pitchFamily="18" charset="0"/>
                <a:cs typeface="Times New Roman" panose="02020603050405020304" pitchFamily="18" charset="0"/>
              </a:rPr>
              <a:t> </a:t>
            </a:r>
            <a:r>
              <a:rPr sz="2200" spc="-25" dirty="0">
                <a:solidFill>
                  <a:srgbClr val="FF0000"/>
                </a:solidFill>
                <a:latin typeface="Times New Roman" panose="02020603050405020304" pitchFamily="18" charset="0"/>
                <a:cs typeface="Times New Roman" panose="02020603050405020304" pitchFamily="18" charset="0"/>
              </a:rPr>
              <a:t>by</a:t>
            </a:r>
            <a:endParaRPr lang="en-IN" sz="2200" spc="-25"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endParaRPr lang="en-IN" sz="900" spc="-25"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r>
              <a:rPr lang="en-IN" sz="2000" spc="-10" dirty="0">
                <a:solidFill>
                  <a:srgbClr val="17375E"/>
                </a:solidFill>
                <a:latin typeface="Times New Roman" panose="02020603050405020304" pitchFamily="18" charset="0"/>
                <a:cs typeface="Times New Roman" panose="02020603050405020304" pitchFamily="18" charset="0"/>
              </a:rPr>
              <a:t>Kallepalli Sai Kowsik (24B11DS086)</a:t>
            </a:r>
          </a:p>
          <a:p>
            <a:pPr marL="3810" algn="ctr">
              <a:lnSpc>
                <a:spcPct val="100000"/>
              </a:lnSpc>
              <a:spcBef>
                <a:spcPts val="750"/>
              </a:spcBef>
            </a:pPr>
            <a:r>
              <a:rPr lang="en-IN" sz="2000" spc="-10" dirty="0" err="1">
                <a:solidFill>
                  <a:srgbClr val="17375E"/>
                </a:solidFill>
                <a:latin typeface="Times New Roman" panose="02020603050405020304" pitchFamily="18" charset="0"/>
                <a:cs typeface="Times New Roman" panose="02020603050405020304" pitchFamily="18" charset="0"/>
              </a:rPr>
              <a:t>Mallidi</a:t>
            </a:r>
            <a:r>
              <a:rPr lang="en-IN" sz="2000" spc="-10" dirty="0">
                <a:solidFill>
                  <a:srgbClr val="17375E"/>
                </a:solidFill>
                <a:latin typeface="Times New Roman" panose="02020603050405020304" pitchFamily="18" charset="0"/>
                <a:cs typeface="Times New Roman" panose="02020603050405020304" pitchFamily="18" charset="0"/>
              </a:rPr>
              <a:t> Venkata Devi Sri Sekhar Reddy  (24B11DS119)</a:t>
            </a:r>
          </a:p>
          <a:p>
            <a:pPr marL="3810" algn="ctr">
              <a:lnSpc>
                <a:spcPct val="100000"/>
              </a:lnSpc>
              <a:spcBef>
                <a:spcPts val="750"/>
              </a:spcBef>
            </a:pPr>
            <a:r>
              <a:rPr lang="en-IN" sz="2000" spc="-10" dirty="0">
                <a:solidFill>
                  <a:srgbClr val="17375E"/>
                </a:solidFill>
                <a:latin typeface="Times New Roman" panose="02020603050405020304" pitchFamily="18" charset="0"/>
                <a:cs typeface="Times New Roman" panose="02020603050405020304" pitchFamily="18" charset="0"/>
              </a:rPr>
              <a:t>Vedantam Narasimha Krishna Chaitanya (24B11DS216)</a:t>
            </a:r>
          </a:p>
          <a:p>
            <a:pPr marL="3810" algn="ctr">
              <a:lnSpc>
                <a:spcPct val="100000"/>
              </a:lnSpc>
              <a:spcBef>
                <a:spcPts val="750"/>
              </a:spcBef>
            </a:pPr>
            <a:endParaRPr lang="en-IN" sz="1650" spc="-10" dirty="0">
              <a:latin typeface="Times New Roman" panose="02020603050405020304" pitchFamily="18" charset="0"/>
              <a:cs typeface="Times New Roman" panose="02020603050405020304" pitchFamily="18" charset="0"/>
            </a:endParaRPr>
          </a:p>
          <a:p>
            <a:pPr marL="1270" algn="ctr">
              <a:lnSpc>
                <a:spcPct val="100000"/>
              </a:lnSpc>
              <a:spcBef>
                <a:spcPts val="994"/>
              </a:spcBef>
            </a:pPr>
            <a:r>
              <a:rPr sz="2200" dirty="0">
                <a:solidFill>
                  <a:srgbClr val="943735"/>
                </a:solidFill>
                <a:latin typeface="Times New Roman" panose="02020603050405020304" pitchFamily="18" charset="0"/>
                <a:cs typeface="Times New Roman" panose="02020603050405020304" pitchFamily="18" charset="0"/>
              </a:rPr>
              <a:t>Department</a:t>
            </a:r>
            <a:r>
              <a:rPr sz="2200" spc="-60" dirty="0">
                <a:solidFill>
                  <a:srgbClr val="943735"/>
                </a:solidFill>
                <a:latin typeface="Times New Roman" panose="02020603050405020304" pitchFamily="18" charset="0"/>
                <a:cs typeface="Times New Roman" panose="02020603050405020304" pitchFamily="18" charset="0"/>
              </a:rPr>
              <a:t> </a:t>
            </a:r>
            <a:r>
              <a:rPr sz="2200" dirty="0">
                <a:solidFill>
                  <a:srgbClr val="943735"/>
                </a:solidFill>
                <a:latin typeface="Times New Roman" panose="02020603050405020304" pitchFamily="18" charset="0"/>
                <a:cs typeface="Times New Roman" panose="02020603050405020304" pitchFamily="18" charset="0"/>
              </a:rPr>
              <a:t>o</a:t>
            </a:r>
            <a:r>
              <a:rPr lang="en-US" sz="2200" dirty="0">
                <a:solidFill>
                  <a:srgbClr val="943735"/>
                </a:solidFill>
                <a:latin typeface="Times New Roman" panose="02020603050405020304" pitchFamily="18" charset="0"/>
                <a:cs typeface="Times New Roman" panose="02020603050405020304" pitchFamily="18" charset="0"/>
              </a:rPr>
              <a:t>f Information Technology</a:t>
            </a:r>
            <a:endParaRPr lang="en-IN" sz="2200" spc="-10" dirty="0">
              <a:solidFill>
                <a:srgbClr val="943735"/>
              </a:solidFill>
              <a:latin typeface="Times New Roman" panose="02020603050405020304" pitchFamily="18" charset="0"/>
              <a:cs typeface="Times New Roman" panose="02020603050405020304" pitchFamily="18" charset="0"/>
            </a:endParaRPr>
          </a:p>
          <a:p>
            <a:pPr marL="1270" algn="ctr">
              <a:lnSpc>
                <a:spcPct val="100000"/>
              </a:lnSpc>
              <a:spcBef>
                <a:spcPts val="994"/>
              </a:spcBef>
            </a:pPr>
            <a:endParaRPr lang="en-IN" sz="1650" spc="-10" dirty="0">
              <a:solidFill>
                <a:srgbClr val="943735"/>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90750" y="204311"/>
            <a:ext cx="1163002" cy="424338"/>
          </a:xfrm>
          <a:prstGeom prst="rect">
            <a:avLst/>
          </a:prstGeom>
        </p:spPr>
      </p:pic>
      <p:sp>
        <p:nvSpPr>
          <p:cNvPr id="4" name="object 4"/>
          <p:cNvSpPr txBox="1"/>
          <p:nvPr/>
        </p:nvSpPr>
        <p:spPr>
          <a:xfrm>
            <a:off x="1260408" y="1191211"/>
            <a:ext cx="3770980" cy="5495094"/>
          </a:xfrm>
          <a:prstGeom prst="rect">
            <a:avLst/>
          </a:prstGeom>
        </p:spPr>
        <p:txBody>
          <a:bodyPr vert="horz" wrap="square" lIns="0" tIns="16510" rIns="0" bIns="0" rtlCol="0">
            <a:spAutoFit/>
          </a:bodyPr>
          <a:lstStyle/>
          <a:p>
            <a:pPr marL="389890" indent="-377190">
              <a:lnSpc>
                <a:spcPct val="100000"/>
              </a:lnSpc>
              <a:spcBef>
                <a:spcPts val="130"/>
              </a:spcBef>
              <a:buFont typeface="Cambria"/>
              <a:buAutoNum type="arabicPeriod"/>
              <a:tabLst>
                <a:tab pos="389890" algn="l"/>
              </a:tabLst>
            </a:pPr>
            <a:r>
              <a:rPr lang="en-IN" sz="2400" spc="-10" dirty="0">
                <a:latin typeface="Times New Roman" panose="02020603050405020304" pitchFamily="18" charset="0"/>
                <a:cs typeface="Times New Roman" panose="02020603050405020304" pitchFamily="18" charset="0"/>
              </a:rPr>
              <a:t>Abstract</a:t>
            </a:r>
            <a:endParaRPr sz="2400" dirty="0">
              <a:latin typeface="Times New Roman" panose="02020603050405020304" pitchFamily="18" charset="0"/>
              <a:cs typeface="Times New Roman" panose="02020603050405020304" pitchFamily="18" charset="0"/>
            </a:endParaRP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Introduction</a:t>
            </a: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System Analysis</a:t>
            </a:r>
            <a:endParaRPr sz="2400" dirty="0">
              <a:latin typeface="Times New Roman" panose="02020603050405020304" pitchFamily="18" charset="0"/>
              <a:cs typeface="Times New Roman" panose="02020603050405020304" pitchFamily="18" charset="0"/>
            </a:endParaRP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Database Design</a:t>
            </a: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System Design</a:t>
            </a:r>
          </a:p>
          <a:p>
            <a:pPr marL="389890" indent="-377190">
              <a:lnSpc>
                <a:spcPct val="100000"/>
              </a:lnSpc>
              <a:spcBef>
                <a:spcPts val="2060"/>
              </a:spcBef>
              <a:buAutoNum type="arabicPeriod"/>
              <a:tabLst>
                <a:tab pos="389890" algn="l"/>
              </a:tabLst>
            </a:pPr>
            <a:r>
              <a:rPr lang="en-IN" sz="2400" spc="50" dirty="0">
                <a:latin typeface="Times New Roman" panose="02020603050405020304" pitchFamily="18" charset="0"/>
                <a:cs typeface="Times New Roman" panose="02020603050405020304" pitchFamily="18" charset="0"/>
              </a:rPr>
              <a:t>System Implementation</a:t>
            </a:r>
          </a:p>
          <a:p>
            <a:pPr marL="389890" indent="-377190">
              <a:spcBef>
                <a:spcPts val="2060"/>
              </a:spcBef>
              <a:buFontTx/>
              <a:buAutoNum type="arabicPeriod"/>
              <a:tabLst>
                <a:tab pos="389890" algn="l"/>
              </a:tabLst>
            </a:pPr>
            <a:r>
              <a:rPr lang="en-IN" sz="2400" spc="50" dirty="0">
                <a:latin typeface="Times New Roman" panose="02020603050405020304" pitchFamily="18" charset="0"/>
                <a:cs typeface="Times New Roman" panose="02020603050405020304" pitchFamily="18" charset="0"/>
              </a:rPr>
              <a:t>Future Enhancements</a:t>
            </a:r>
          </a:p>
          <a:p>
            <a:pPr marL="389890" indent="-377190">
              <a:spcBef>
                <a:spcPts val="2060"/>
              </a:spcBef>
              <a:buFontTx/>
              <a:buAutoNum type="arabicPeriod"/>
              <a:tabLst>
                <a:tab pos="389890" algn="l"/>
              </a:tabLst>
            </a:pPr>
            <a:r>
              <a:rPr lang="en-IN" sz="2400" spc="50" dirty="0">
                <a:latin typeface="Times New Roman" panose="02020603050405020304" pitchFamily="18" charset="0"/>
                <a:cs typeface="Times New Roman" panose="02020603050405020304" pitchFamily="18" charset="0"/>
              </a:rPr>
              <a:t>References</a:t>
            </a:r>
          </a:p>
          <a:p>
            <a:pPr marL="389890" indent="-377190">
              <a:spcBef>
                <a:spcPts val="2060"/>
              </a:spcBef>
              <a:buFontTx/>
              <a:buAutoNum type="arabicPeriod"/>
              <a:tabLst>
                <a:tab pos="389890" algn="l"/>
              </a:tabLst>
            </a:pPr>
            <a:r>
              <a:rPr lang="en-IN" sz="2400" spc="50" dirty="0">
                <a:latin typeface="Times New Roman" panose="02020603050405020304" pitchFamily="18" charset="0"/>
                <a:cs typeface="Times New Roman" panose="02020603050405020304" pitchFamily="18" charset="0"/>
              </a:rPr>
              <a:t>Conclusion</a:t>
            </a:r>
          </a:p>
        </p:txBody>
      </p:sp>
      <p:grpSp>
        <p:nvGrpSpPr>
          <p:cNvPr id="5" name="object 3"/>
          <p:cNvGrpSpPr/>
          <p:nvPr/>
        </p:nvGrpSpPr>
        <p:grpSpPr>
          <a:xfrm>
            <a:off x="2438400" y="33670"/>
            <a:ext cx="5334000" cy="1198311"/>
            <a:chOff x="2648188" y="47148"/>
            <a:chExt cx="5103904" cy="1198311"/>
          </a:xfrm>
        </p:grpSpPr>
        <p:pic>
          <p:nvPicPr>
            <p:cNvPr id="6" name="object 4"/>
            <p:cNvPicPr/>
            <p:nvPr/>
          </p:nvPicPr>
          <p:blipFill>
            <a:blip r:embed="rId3" cstate="print"/>
            <a:stretch>
              <a:fillRect/>
            </a:stretch>
          </p:blipFill>
          <p:spPr>
            <a:xfrm>
              <a:off x="2648188" y="47148"/>
              <a:ext cx="5103904" cy="1198311"/>
            </a:xfrm>
            <a:prstGeom prst="rect">
              <a:avLst/>
            </a:prstGeom>
          </p:spPr>
        </p:pic>
        <p:pic>
          <p:nvPicPr>
            <p:cNvPr id="7" name="object 5"/>
            <p:cNvPicPr/>
            <p:nvPr/>
          </p:nvPicPr>
          <p:blipFill>
            <a:blip r:embed="rId4" cstate="print"/>
            <a:stretch>
              <a:fillRect/>
            </a:stretch>
          </p:blipFill>
          <p:spPr>
            <a:xfrm>
              <a:off x="2703195" y="86439"/>
              <a:ext cx="4997767" cy="1092279"/>
            </a:xfrm>
            <a:prstGeom prst="rect">
              <a:avLst/>
            </a:prstGeom>
          </p:spPr>
        </p:pic>
        <p:pic>
          <p:nvPicPr>
            <p:cNvPr id="8" name="object 6"/>
            <p:cNvPicPr/>
            <p:nvPr/>
          </p:nvPicPr>
          <p:blipFill>
            <a:blip r:embed="rId5" cstate="print"/>
            <a:stretch>
              <a:fillRect/>
            </a:stretch>
          </p:blipFill>
          <p:spPr>
            <a:xfrm>
              <a:off x="2828925" y="243549"/>
              <a:ext cx="4585268" cy="522565"/>
            </a:xfrm>
            <a:prstGeom prst="rect">
              <a:avLst/>
            </a:prstGeom>
          </p:spPr>
        </p:pic>
        <p:sp>
          <p:nvSpPr>
            <p:cNvPr id="9"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p:cNvSpPr txBox="1">
            <a:spLocks/>
          </p:cNvSpPr>
          <p:nvPr/>
        </p:nvSpPr>
        <p:spPr>
          <a:xfrm>
            <a:off x="3604543" y="286092"/>
            <a:ext cx="2853690" cy="355225"/>
          </a:xfrm>
          <a:prstGeom prst="rect">
            <a:avLst/>
          </a:prstGeom>
        </p:spPr>
        <p:txBody>
          <a:bodyPr vert="horz" wrap="square" lIns="0" tIns="16510" rIns="0" bIns="0" rtlCol="0">
            <a:spAutoFit/>
          </a:bodyPr>
          <a:lstStyle>
            <a:lvl1pPr>
              <a:defRPr>
                <a:latin typeface="+mj-lt"/>
                <a:ea typeface="+mj-ea"/>
                <a:cs typeface="+mj-cs"/>
              </a:defRPr>
            </a:lvl1pPr>
          </a:lstStyle>
          <a:p>
            <a:pPr marL="12700" algn="ctr">
              <a:spcBef>
                <a:spcPts val="130"/>
              </a:spcBef>
            </a:pPr>
            <a:r>
              <a:rPr lang="en-IN" sz="2200" b="1" dirty="0">
                <a:solidFill>
                  <a:schemeClr val="bg1"/>
                </a:solidFill>
                <a:latin typeface="Times New Roman" panose="02020603050405020304" pitchFamily="18" charset="0"/>
                <a:cs typeface="Times New Roman" panose="02020603050405020304" pitchFamily="18" charset="0"/>
              </a:rPr>
              <a:t>Presentation Outline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2667000" y="53695"/>
            <a:ext cx="5103904" cy="1198311"/>
            <a:chOff x="2648188" y="47148"/>
            <a:chExt cx="5103904" cy="1198311"/>
          </a:xfrm>
        </p:grpSpPr>
        <p:pic>
          <p:nvPicPr>
            <p:cNvPr id="4" name="object 4"/>
            <p:cNvPicPr/>
            <p:nvPr/>
          </p:nvPicPr>
          <p:blipFill>
            <a:blip r:embed="rId2" cstate="print"/>
            <a:stretch>
              <a:fillRect/>
            </a:stretch>
          </p:blipFill>
          <p:spPr>
            <a:xfrm>
              <a:off x="2648188" y="47148"/>
              <a:ext cx="5103904" cy="1198311"/>
            </a:xfrm>
            <a:prstGeom prst="rect">
              <a:avLst/>
            </a:prstGeom>
          </p:spPr>
        </p:pic>
        <p:pic>
          <p:nvPicPr>
            <p:cNvPr id="5" name="object 5"/>
            <p:cNvPicPr/>
            <p:nvPr/>
          </p:nvPicPr>
          <p:blipFill>
            <a:blip r:embed="rId3" cstate="print"/>
            <a:stretch>
              <a:fillRect/>
            </a:stretch>
          </p:blipFill>
          <p:spPr>
            <a:xfrm>
              <a:off x="2703195" y="86439"/>
              <a:ext cx="4997767" cy="1092279"/>
            </a:xfrm>
            <a:prstGeom prst="rect">
              <a:avLst/>
            </a:prstGeom>
          </p:spPr>
        </p:pic>
        <p:pic>
          <p:nvPicPr>
            <p:cNvPr id="6" name="object 6"/>
            <p:cNvPicPr/>
            <p:nvPr/>
          </p:nvPicPr>
          <p:blipFill>
            <a:blip r:embed="rId4" cstate="print"/>
            <a:stretch>
              <a:fillRect/>
            </a:stretch>
          </p:blipFill>
          <p:spPr>
            <a:xfrm>
              <a:off x="2828925" y="243549"/>
              <a:ext cx="4585268" cy="522565"/>
            </a:xfrm>
            <a:prstGeom prst="rect">
              <a:avLst/>
            </a:prstGeom>
          </p:spPr>
        </p:pic>
        <p:sp>
          <p:nvSpPr>
            <p:cNvPr id="7"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9" name="object 9"/>
          <p:cNvSpPr txBox="1">
            <a:spLocks noGrp="1"/>
          </p:cNvSpPr>
          <p:nvPr>
            <p:ph type="title"/>
          </p:nvPr>
        </p:nvSpPr>
        <p:spPr>
          <a:xfrm>
            <a:off x="4343400" y="325191"/>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ABSTRACT</a:t>
            </a:r>
          </a:p>
        </p:txBody>
      </p:sp>
      <p:pic>
        <p:nvPicPr>
          <p:cNvPr id="10" name="object 3">
            <a:extLst>
              <a:ext uri="{FF2B5EF4-FFF2-40B4-BE49-F238E27FC236}">
                <a16:creationId xmlns:a16="http://schemas.microsoft.com/office/drawing/2014/main" id="{1B5A0518-1CDA-CA94-327E-0995E9EC2B84}"/>
              </a:ext>
            </a:extLst>
          </p:cNvPr>
          <p:cNvPicPr/>
          <p:nvPr/>
        </p:nvPicPr>
        <p:blipFill>
          <a:blip r:embed="rId5" cstate="print"/>
          <a:stretch>
            <a:fillRect/>
          </a:stretch>
        </p:blipFill>
        <p:spPr>
          <a:xfrm>
            <a:off x="290750" y="204311"/>
            <a:ext cx="1163002" cy="424338"/>
          </a:xfrm>
          <a:prstGeom prst="rect">
            <a:avLst/>
          </a:prstGeom>
        </p:spPr>
      </p:pic>
      <p:sp>
        <p:nvSpPr>
          <p:cNvPr id="13" name="TextBox 12">
            <a:extLst>
              <a:ext uri="{FF2B5EF4-FFF2-40B4-BE49-F238E27FC236}">
                <a16:creationId xmlns:a16="http://schemas.microsoft.com/office/drawing/2014/main" id="{F71F55BA-986F-654A-5E2D-6EB3BA46572D}"/>
              </a:ext>
            </a:extLst>
          </p:cNvPr>
          <p:cNvSpPr txBox="1"/>
          <p:nvPr/>
        </p:nvSpPr>
        <p:spPr>
          <a:xfrm>
            <a:off x="723900" y="1185265"/>
            <a:ext cx="8610600" cy="4191981"/>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E-Commerce Application is a desktop-based system developed to manage products, cart operations, and order processing in a structured and efficient manner. It allows users to view products, manage carts, place orders, and apply coupon discounts using a relational database. Built with Core Java, Swing, JDBC, and MySQL, the system ensures data accuracy, reduces redundancy, and improves accessibility. It also supports product management for sellers, enabling easy addition, updating, and deletion of records. The application delivers a user-friendly and scalable solution, demonstrating the core functionalities of an e-commerce system.</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3954952" y="344896"/>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INTRODUCTION</a:t>
            </a: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25851B59-AD5A-81AD-7D42-C1CD5E589B58}"/>
              </a:ext>
            </a:extLst>
          </p:cNvPr>
          <p:cNvSpPr txBox="1"/>
          <p:nvPr/>
        </p:nvSpPr>
        <p:spPr>
          <a:xfrm>
            <a:off x="723900" y="1437175"/>
            <a:ext cx="8610600" cy="3691844"/>
          </a:xfrm>
          <a:prstGeom prst="rect">
            <a:avLst/>
          </a:prstGeom>
          <a:noFill/>
        </p:spPr>
        <p:txBody>
          <a:bodyPr wrap="square" rtlCol="0">
            <a:spAutoFit/>
          </a:bodyPr>
          <a:lstStyle/>
          <a:p>
            <a:pPr marL="342900" indent="-342900" algn="just">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Online Shopping Cart Simulation is a Java-based application developed to simulate an online shopping platform with two types of users: Buyers and Sellers. The system allows buyers to browse products and place orders, while sellers can manage product listings and inventory. The system demonstrates real-world e-commerce concepts such as role-based access, inventory management, and order processing.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789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3917781" y="332823"/>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SYSTEM ANALYSIS</a:t>
            </a:r>
          </a:p>
        </p:txBody>
      </p:sp>
      <p:sp>
        <p:nvSpPr>
          <p:cNvPr id="16" name="TextBox 15">
            <a:extLst>
              <a:ext uri="{FF2B5EF4-FFF2-40B4-BE49-F238E27FC236}">
                <a16:creationId xmlns:a16="http://schemas.microsoft.com/office/drawing/2014/main" id="{85EA2366-D5A3-7AD8-E7B4-472C3227ADC8}"/>
              </a:ext>
            </a:extLst>
          </p:cNvPr>
          <p:cNvSpPr txBox="1"/>
          <p:nvPr/>
        </p:nvSpPr>
        <p:spPr>
          <a:xfrm>
            <a:off x="762000" y="1205414"/>
            <a:ext cx="8534400" cy="984885"/>
          </a:xfrm>
          <a:prstGeom prst="rect">
            <a:avLst/>
          </a:prstGeom>
          <a:noFill/>
        </p:spPr>
        <p:txBody>
          <a:bodyPr wrap="square" rtlCol="0">
            <a:spAutoFit/>
          </a:bodyPr>
          <a:lstStyle/>
          <a:p>
            <a:pPr algn="just">
              <a:spcBef>
                <a:spcPts val="1200"/>
              </a:spcBef>
            </a:pPr>
            <a:r>
              <a:rPr lang="en-US" sz="2400" b="1" dirty="0">
                <a:latin typeface="Times New Roman" panose="02020603050405020304" pitchFamily="18" charset="0"/>
                <a:cs typeface="Times New Roman" panose="02020603050405020304" pitchFamily="18" charset="0"/>
              </a:rPr>
              <a:t>Functional Requirements:</a:t>
            </a:r>
          </a:p>
          <a:p>
            <a:pPr algn="just">
              <a:spcBef>
                <a:spcPts val="1200"/>
              </a:spcBef>
            </a:pPr>
            <a:endParaRPr lang="en-US" sz="2400" b="1" dirty="0">
              <a:latin typeface="Times New Roman" panose="02020603050405020304" pitchFamily="18" charset="0"/>
              <a:cs typeface="Times New Roman" panose="02020603050405020304" pitchFamily="18" charset="0"/>
            </a:endParaRP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
        <p:nvSpPr>
          <p:cNvPr id="9" name="Rectangle 3">
            <a:extLst>
              <a:ext uri="{FF2B5EF4-FFF2-40B4-BE49-F238E27FC236}">
                <a16:creationId xmlns:a16="http://schemas.microsoft.com/office/drawing/2014/main" id="{02FC6060-22EF-5CA6-26DF-C164A2B44B41}"/>
              </a:ext>
            </a:extLst>
          </p:cNvPr>
          <p:cNvSpPr>
            <a:spLocks noChangeArrowheads="1"/>
          </p:cNvSpPr>
          <p:nvPr/>
        </p:nvSpPr>
        <p:spPr bwMode="auto">
          <a:xfrm>
            <a:off x="762000" y="1876817"/>
            <a:ext cx="7567374" cy="5115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View Products: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Displays available products with details like name, price, category, description, and image in a user-friendly format.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Cart Management: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Allows users to add products, update quantities, remove items, and dynamically manage their cart.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View Order Details: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Provides access to past orders with complete information including products, price, quantity, and seller details.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Product Management: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Allows sellers to add, update, and delete products with proper data validation.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Place Orders: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Enables users to place orders from the cart with coupon validation, storing order details like product, price, and quantity. </a:t>
            </a:r>
          </a:p>
        </p:txBody>
      </p:sp>
    </p:spTree>
    <p:extLst>
      <p:ext uri="{BB962C8B-B14F-4D97-AF65-F5344CB8AC3E}">
        <p14:creationId xmlns:p14="http://schemas.microsoft.com/office/powerpoint/2010/main" val="4273835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3810000" y="342558"/>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SYSTEM ANALYSIS</a:t>
            </a:r>
          </a:p>
        </p:txBody>
      </p:sp>
      <p:sp>
        <p:nvSpPr>
          <p:cNvPr id="16" name="TextBox 15">
            <a:extLst>
              <a:ext uri="{FF2B5EF4-FFF2-40B4-BE49-F238E27FC236}">
                <a16:creationId xmlns:a16="http://schemas.microsoft.com/office/drawing/2014/main" id="{85EA2366-D5A3-7AD8-E7B4-472C3227ADC8}"/>
              </a:ext>
            </a:extLst>
          </p:cNvPr>
          <p:cNvSpPr txBox="1"/>
          <p:nvPr/>
        </p:nvSpPr>
        <p:spPr>
          <a:xfrm>
            <a:off x="987471" y="1053128"/>
            <a:ext cx="8305800" cy="6633354"/>
          </a:xfrm>
          <a:prstGeom prst="rect">
            <a:avLst/>
          </a:prstGeom>
          <a:noFill/>
        </p:spPr>
        <p:txBody>
          <a:bodyPr wrap="square" rtlCol="0">
            <a:spAutoFit/>
          </a:bodyPr>
          <a:lstStyle/>
          <a:p>
            <a:pPr>
              <a:lnSpc>
                <a:spcPct val="150000"/>
              </a:lnSpc>
            </a:pPr>
            <a:r>
              <a:rPr lang="en-IN" sz="2200" b="1" dirty="0">
                <a:latin typeface="Times New Roman" panose="02020603050405020304" pitchFamily="18" charset="0"/>
                <a:cs typeface="Times New Roman" panose="02020603050405020304" pitchFamily="18" charset="0"/>
              </a:rPr>
              <a:t>Hardware Requirements</a:t>
            </a:r>
          </a:p>
          <a:p>
            <a:pPr marL="285750" indent="-28575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Processor: Intel i3 or above</a:t>
            </a:r>
          </a:p>
          <a:p>
            <a:pPr marL="285750" indent="-28575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RAM: Minimum 4 GB</a:t>
            </a:r>
          </a:p>
          <a:p>
            <a:pPr marL="285750" indent="-28575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Storage: 20 GB</a:t>
            </a:r>
          </a:p>
          <a:p>
            <a:pPr marL="285750" indent="-28575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Input Devices: Keyboard, Mouse</a:t>
            </a:r>
          </a:p>
          <a:p>
            <a:pPr marL="285750" indent="-28575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Output Device: Monitor</a:t>
            </a:r>
          </a:p>
          <a:p>
            <a:pPr>
              <a:lnSpc>
                <a:spcPct val="150000"/>
              </a:lnSpc>
            </a:pPr>
            <a:endParaRPr lang="en-IN" sz="1100" dirty="0">
              <a:latin typeface="Times New Roman" panose="02020603050405020304" pitchFamily="18" charset="0"/>
              <a:cs typeface="Times New Roman" panose="02020603050405020304" pitchFamily="18" charset="0"/>
            </a:endParaRPr>
          </a:p>
          <a:p>
            <a:pPr>
              <a:lnSpc>
                <a:spcPct val="150000"/>
              </a:lnSpc>
            </a:pPr>
            <a:r>
              <a:rPr lang="en-IN" sz="2200" b="1" dirty="0">
                <a:latin typeface="Times New Roman" panose="02020603050405020304" pitchFamily="18" charset="0"/>
                <a:cs typeface="Times New Roman" panose="02020603050405020304" pitchFamily="18" charset="0"/>
              </a:rPr>
              <a:t>Software Requirements</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Operating System: Windows / Linux</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Programming Language: Java (JDK 8 or above)</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IDE: VS Code / Eclipse</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Database: MySQL </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GitHub (for version control)</a:t>
            </a: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22720524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3C03A-992A-CEAD-5FB8-686527824E66}"/>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EA7C8F04-95CA-C1E0-BFA2-4BFACD89E6B8}"/>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B989C992-155F-6A68-0B08-3B39FFBAA62F}"/>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D031E1F9-FB82-922E-C796-97077F94E70F}"/>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8EAA2CC3-9696-811E-B5BE-5C1848177706}"/>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F65D09F8-C17C-F03E-88B8-4942A39F2099}"/>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65154CDE-FB1D-92DB-77E9-9CDAB77B8835}"/>
              </a:ext>
            </a:extLst>
          </p:cNvPr>
          <p:cNvSpPr txBox="1">
            <a:spLocks noGrp="1"/>
          </p:cNvSpPr>
          <p:nvPr>
            <p:ph type="title"/>
          </p:nvPr>
        </p:nvSpPr>
        <p:spPr>
          <a:xfrm>
            <a:off x="4045472" y="42517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a16="http://schemas.microsoft.com/office/drawing/2014/main" id="{5E89CD20-90CB-480C-A4EB-EC7405BED441}"/>
              </a:ext>
            </a:extLst>
          </p:cNvPr>
          <p:cNvPicPr/>
          <p:nvPr/>
        </p:nvPicPr>
        <p:blipFill>
          <a:blip r:embed="rId6" cstate="print"/>
          <a:stretch>
            <a:fillRect/>
          </a:stretch>
        </p:blipFill>
        <p:spPr>
          <a:xfrm>
            <a:off x="290750" y="204311"/>
            <a:ext cx="1163002" cy="424338"/>
          </a:xfrm>
          <a:prstGeom prst="rect">
            <a:avLst/>
          </a:prstGeom>
        </p:spPr>
      </p:pic>
      <p:sp>
        <p:nvSpPr>
          <p:cNvPr id="12" name="TextBox 11">
            <a:extLst>
              <a:ext uri="{FF2B5EF4-FFF2-40B4-BE49-F238E27FC236}">
                <a16:creationId xmlns:a16="http://schemas.microsoft.com/office/drawing/2014/main" id="{4CDD3B24-C6E3-C570-0D11-D85BD4A44819}"/>
              </a:ext>
            </a:extLst>
          </p:cNvPr>
          <p:cNvSpPr txBox="1"/>
          <p:nvPr/>
        </p:nvSpPr>
        <p:spPr>
          <a:xfrm>
            <a:off x="896496" y="1205155"/>
            <a:ext cx="8001000" cy="6346417"/>
          </a:xfrm>
          <a:prstGeom prst="rect">
            <a:avLst/>
          </a:prstGeom>
          <a:noFill/>
        </p:spPr>
        <p:txBody>
          <a:bodyPr wrap="square" rtlCol="0">
            <a:spAutoFit/>
          </a:bodyPr>
          <a:lstStyle/>
          <a:p>
            <a:pPr marL="285750" lvl="2" indent="-285750" algn="just">
              <a:lnSpc>
                <a:spcPct val="150000"/>
              </a:lnSpc>
              <a:spcBef>
                <a:spcPts val="1200"/>
              </a:spcBef>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E- Commerce Simulator mainly has 5 relational database tables in it. Each of them are used to store a particular information. Out of the 5 tables, 4 of them are related to each other and one of them is independent of all. </a:t>
            </a:r>
          </a:p>
          <a:p>
            <a:pPr lvl="8" algn="just">
              <a:lnSpc>
                <a:spcPct val="150000"/>
              </a:lnSpc>
              <a:spcBef>
                <a:spcPts val="1200"/>
              </a:spcBef>
            </a:pPr>
            <a:r>
              <a:rPr lang="en-US" sz="2000" dirty="0">
                <a:latin typeface="Times New Roman" panose="02020603050405020304" pitchFamily="18" charset="0"/>
                <a:cs typeface="Times New Roman" panose="02020603050405020304" pitchFamily="18" charset="0"/>
              </a:rPr>
              <a:t>	Users Table: Stores details of all the users. </a:t>
            </a:r>
          </a:p>
          <a:p>
            <a:pPr lvl="7" algn="just">
              <a:lnSpc>
                <a:spcPct val="150000"/>
              </a:lnSpc>
              <a:spcBef>
                <a:spcPts val="1200"/>
              </a:spcBef>
            </a:pPr>
            <a:r>
              <a:rPr lang="en-US" sz="2000" dirty="0">
                <a:latin typeface="Times New Roman" panose="02020603050405020304" pitchFamily="18" charset="0"/>
                <a:cs typeface="Times New Roman" panose="02020603050405020304" pitchFamily="18" charset="0"/>
              </a:rPr>
              <a:t>	Products table: Stores details of all the products. </a:t>
            </a:r>
          </a:p>
          <a:p>
            <a:pPr lvl="7" algn="just">
              <a:lnSpc>
                <a:spcPct val="150000"/>
              </a:lnSpc>
              <a:spcBef>
                <a:spcPts val="1200"/>
              </a:spcBef>
            </a:pPr>
            <a:r>
              <a:rPr lang="en-US" sz="2000" dirty="0">
                <a:latin typeface="Times New Roman" panose="02020603050405020304" pitchFamily="18" charset="0"/>
                <a:cs typeface="Times New Roman" panose="02020603050405020304" pitchFamily="18" charset="0"/>
              </a:rPr>
              <a:t>	Orders Table: Stores details of all the orders that were placed in the 		application. </a:t>
            </a:r>
          </a:p>
          <a:p>
            <a:pPr lvl="7" algn="just">
              <a:lnSpc>
                <a:spcPct val="150000"/>
              </a:lnSpc>
              <a:spcBef>
                <a:spcPts val="1200"/>
              </a:spcBef>
            </a:pPr>
            <a:r>
              <a:rPr lang="en-US" sz="2000" dirty="0">
                <a:latin typeface="Times New Roman" panose="02020603050405020304" pitchFamily="18" charset="0"/>
                <a:cs typeface="Times New Roman" panose="02020603050405020304" pitchFamily="18" charset="0"/>
              </a:rPr>
              <a:t>	Cart Table: Stores details of all of the products that were added to 		the cart by the user. </a:t>
            </a:r>
          </a:p>
          <a:p>
            <a:pPr lvl="7" algn="just">
              <a:lnSpc>
                <a:spcPct val="150000"/>
              </a:lnSpc>
              <a:spcBef>
                <a:spcPts val="1200"/>
              </a:spcBef>
            </a:pPr>
            <a:r>
              <a:rPr lang="en-US" sz="2000" dirty="0">
                <a:latin typeface="Times New Roman" panose="02020603050405020304" pitchFamily="18" charset="0"/>
                <a:cs typeface="Times New Roman" panose="02020603050405020304" pitchFamily="18" charset="0"/>
              </a:rPr>
              <a:t>	Coupon Table: Stores various coupons that can be accessed to get a 		particular discount.</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918289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440B4-B462-F22D-0950-B6710CF9EA51}"/>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D4A9BBA5-9A38-1657-0653-14EC0D3B9CE4}"/>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6656BA03-D3A4-CDEA-202C-38C81F635B72}"/>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4C109C39-054A-E81F-70B9-386F94A44C3C}"/>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1533A0EA-DA31-1EB6-ADF3-083AD01A4E88}"/>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0E8E014C-4F7F-C10B-D153-7578A6AE564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E5ECF7B6-4D35-5116-1FBA-A710C58C5A84}"/>
              </a:ext>
            </a:extLst>
          </p:cNvPr>
          <p:cNvSpPr txBox="1">
            <a:spLocks noGrp="1"/>
          </p:cNvSpPr>
          <p:nvPr>
            <p:ph type="title"/>
          </p:nvPr>
        </p:nvSpPr>
        <p:spPr>
          <a:xfrm>
            <a:off x="4045472" y="42517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a16="http://schemas.microsoft.com/office/drawing/2014/main" id="{98FBF8DD-4922-6047-5E1A-EAFBB22DFB9B}"/>
              </a:ext>
            </a:extLst>
          </p:cNvPr>
          <p:cNvPicPr/>
          <p:nvPr/>
        </p:nvPicPr>
        <p:blipFill>
          <a:blip r:embed="rId6"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36FE3A23-6F7A-9CD3-0012-E9E7C7331AAD}"/>
              </a:ext>
            </a:extLst>
          </p:cNvPr>
          <p:cNvSpPr txBox="1"/>
          <p:nvPr/>
        </p:nvSpPr>
        <p:spPr>
          <a:xfrm>
            <a:off x="290750" y="1353220"/>
            <a:ext cx="4585268"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Database Tables:</a:t>
            </a:r>
          </a:p>
        </p:txBody>
      </p:sp>
      <p:sp>
        <p:nvSpPr>
          <p:cNvPr id="12" name="TextBox 11">
            <a:extLst>
              <a:ext uri="{FF2B5EF4-FFF2-40B4-BE49-F238E27FC236}">
                <a16:creationId xmlns:a16="http://schemas.microsoft.com/office/drawing/2014/main" id="{DB0D226A-4905-9A23-644C-CE3991C38936}"/>
              </a:ext>
            </a:extLst>
          </p:cNvPr>
          <p:cNvSpPr txBox="1"/>
          <p:nvPr/>
        </p:nvSpPr>
        <p:spPr>
          <a:xfrm>
            <a:off x="533400" y="2005523"/>
            <a:ext cx="8366948" cy="646331"/>
          </a:xfrm>
          <a:prstGeom prst="rect">
            <a:avLst/>
          </a:prstGeom>
          <a:noFill/>
        </p:spPr>
        <p:txBody>
          <a:bodyPr wrap="square">
            <a:spAutoFit/>
          </a:bodyPr>
          <a:lstStyle/>
          <a:p>
            <a:r>
              <a:rPr lang="en-IN" b="1" dirty="0"/>
              <a:t>Users Table : </a:t>
            </a:r>
            <a:r>
              <a:rPr lang="en-IN" dirty="0"/>
              <a:t>Stores users Data</a:t>
            </a:r>
            <a:endParaRPr lang="en-IN" b="1" dirty="0"/>
          </a:p>
          <a:p>
            <a:r>
              <a:rPr lang="en-US" dirty="0"/>
              <a:t>			</a:t>
            </a:r>
            <a:endParaRPr lang="en-IN" b="1" dirty="0"/>
          </a:p>
        </p:txBody>
      </p:sp>
      <p:pic>
        <p:nvPicPr>
          <p:cNvPr id="4" name="Picture 3">
            <a:extLst>
              <a:ext uri="{FF2B5EF4-FFF2-40B4-BE49-F238E27FC236}">
                <a16:creationId xmlns:a16="http://schemas.microsoft.com/office/drawing/2014/main" id="{71FB368E-791A-CB17-6B4A-4FB7D64F57C6}"/>
              </a:ext>
            </a:extLst>
          </p:cNvPr>
          <p:cNvPicPr>
            <a:picLocks noChangeAspect="1"/>
          </p:cNvPicPr>
          <p:nvPr/>
        </p:nvPicPr>
        <p:blipFill>
          <a:blip r:embed="rId7"/>
          <a:stretch>
            <a:fillRect/>
          </a:stretch>
        </p:blipFill>
        <p:spPr>
          <a:xfrm>
            <a:off x="310065" y="2651854"/>
            <a:ext cx="9665374" cy="2604282"/>
          </a:xfrm>
          <a:prstGeom prst="rect">
            <a:avLst/>
          </a:prstGeom>
        </p:spPr>
      </p:pic>
    </p:spTree>
    <p:extLst>
      <p:ext uri="{BB962C8B-B14F-4D97-AF65-F5344CB8AC3E}">
        <p14:creationId xmlns:p14="http://schemas.microsoft.com/office/powerpoint/2010/main" val="25658703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A0787-E769-8B37-025D-041FF5E1BF90}"/>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3476D6BF-13C6-C6B0-36DF-F1559314FAB1}"/>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70BE4208-2AED-46E3-654C-0DE2B83F7F41}"/>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8994CB99-6727-2B94-DE57-F503E8F8FB69}"/>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2851F0DB-95C6-22C8-2435-DA8595A2F763}"/>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7689328C-CC9D-EEE6-AEF0-27195081DA2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ECEAD52A-D6BA-B4AE-C1E4-8A54366273AF}"/>
              </a:ext>
            </a:extLst>
          </p:cNvPr>
          <p:cNvSpPr txBox="1">
            <a:spLocks noGrp="1"/>
          </p:cNvSpPr>
          <p:nvPr>
            <p:ph type="title"/>
          </p:nvPr>
        </p:nvSpPr>
        <p:spPr>
          <a:xfrm>
            <a:off x="4045472" y="42517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a16="http://schemas.microsoft.com/office/drawing/2014/main" id="{FAB0F939-F8B0-7014-4713-2E3FA82313DF}"/>
              </a:ext>
            </a:extLst>
          </p:cNvPr>
          <p:cNvPicPr/>
          <p:nvPr/>
        </p:nvPicPr>
        <p:blipFill>
          <a:blip r:embed="rId6"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CD205DEE-CF0B-DBC2-E5CD-2C4FB4661C9F}"/>
              </a:ext>
            </a:extLst>
          </p:cNvPr>
          <p:cNvSpPr txBox="1"/>
          <p:nvPr/>
        </p:nvSpPr>
        <p:spPr>
          <a:xfrm>
            <a:off x="298166" y="1144703"/>
            <a:ext cx="4585268"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Database Tables:</a:t>
            </a:r>
          </a:p>
        </p:txBody>
      </p:sp>
      <p:sp>
        <p:nvSpPr>
          <p:cNvPr id="12" name="TextBox 11">
            <a:extLst>
              <a:ext uri="{FF2B5EF4-FFF2-40B4-BE49-F238E27FC236}">
                <a16:creationId xmlns:a16="http://schemas.microsoft.com/office/drawing/2014/main" id="{2B7D6DA8-89F8-4CB4-20B5-36719C763BE0}"/>
              </a:ext>
            </a:extLst>
          </p:cNvPr>
          <p:cNvSpPr txBox="1"/>
          <p:nvPr/>
        </p:nvSpPr>
        <p:spPr>
          <a:xfrm>
            <a:off x="478179" y="1739235"/>
            <a:ext cx="8366948" cy="369332"/>
          </a:xfrm>
          <a:prstGeom prst="rect">
            <a:avLst/>
          </a:prstGeom>
          <a:noFill/>
        </p:spPr>
        <p:txBody>
          <a:bodyPr wrap="square">
            <a:spAutoFit/>
          </a:bodyPr>
          <a:lstStyle/>
          <a:p>
            <a:r>
              <a:rPr lang="en-IN" b="1" dirty="0"/>
              <a:t>Products</a:t>
            </a:r>
            <a:r>
              <a:rPr lang="en-IN" dirty="0"/>
              <a:t> </a:t>
            </a:r>
            <a:r>
              <a:rPr lang="en-IN" b="1" dirty="0"/>
              <a:t>Table : </a:t>
            </a:r>
            <a:r>
              <a:rPr lang="en-IN" dirty="0"/>
              <a:t>Stores Product Details</a:t>
            </a:r>
            <a:endParaRPr lang="en-IN" b="1" dirty="0"/>
          </a:p>
        </p:txBody>
      </p:sp>
      <p:pic>
        <p:nvPicPr>
          <p:cNvPr id="4" name="Picture 3">
            <a:extLst>
              <a:ext uri="{FF2B5EF4-FFF2-40B4-BE49-F238E27FC236}">
                <a16:creationId xmlns:a16="http://schemas.microsoft.com/office/drawing/2014/main" id="{BE810E4D-BD6F-169F-5F4D-91355BA105CD}"/>
              </a:ext>
            </a:extLst>
          </p:cNvPr>
          <p:cNvPicPr>
            <a:picLocks noChangeAspect="1"/>
          </p:cNvPicPr>
          <p:nvPr/>
        </p:nvPicPr>
        <p:blipFill>
          <a:blip r:embed="rId7"/>
          <a:stretch>
            <a:fillRect/>
          </a:stretch>
        </p:blipFill>
        <p:spPr>
          <a:xfrm>
            <a:off x="365154" y="2191457"/>
            <a:ext cx="9398034" cy="2769533"/>
          </a:xfrm>
          <a:prstGeom prst="rect">
            <a:avLst/>
          </a:prstGeom>
        </p:spPr>
      </p:pic>
      <p:sp>
        <p:nvSpPr>
          <p:cNvPr id="14" name="TextBox 13">
            <a:extLst>
              <a:ext uri="{FF2B5EF4-FFF2-40B4-BE49-F238E27FC236}">
                <a16:creationId xmlns:a16="http://schemas.microsoft.com/office/drawing/2014/main" id="{6292B5A4-B15D-1B09-9258-2F6BEFEFF632}"/>
              </a:ext>
            </a:extLst>
          </p:cNvPr>
          <p:cNvSpPr txBox="1"/>
          <p:nvPr/>
        </p:nvSpPr>
        <p:spPr>
          <a:xfrm>
            <a:off x="365154" y="5333670"/>
            <a:ext cx="8001000" cy="369332"/>
          </a:xfrm>
          <a:prstGeom prst="rect">
            <a:avLst/>
          </a:prstGeom>
          <a:noFill/>
        </p:spPr>
        <p:txBody>
          <a:bodyPr wrap="square" rtlCol="0">
            <a:spAutoFit/>
          </a:bodyPr>
          <a:lstStyle/>
          <a:p>
            <a:r>
              <a:rPr lang="en-IN" b="1" dirty="0"/>
              <a:t>Cart Table: </a:t>
            </a:r>
            <a:r>
              <a:rPr lang="en-IN" dirty="0"/>
              <a:t>Stores all the details of the products added in the cart.</a:t>
            </a:r>
            <a:endParaRPr lang="en-IN" b="1" dirty="0"/>
          </a:p>
        </p:txBody>
      </p:sp>
      <p:pic>
        <p:nvPicPr>
          <p:cNvPr id="16" name="Picture 15">
            <a:extLst>
              <a:ext uri="{FF2B5EF4-FFF2-40B4-BE49-F238E27FC236}">
                <a16:creationId xmlns:a16="http://schemas.microsoft.com/office/drawing/2014/main" id="{DC62E933-9CCB-C977-1BD0-916811B9A167}"/>
              </a:ext>
            </a:extLst>
          </p:cNvPr>
          <p:cNvPicPr>
            <a:picLocks noChangeAspect="1"/>
          </p:cNvPicPr>
          <p:nvPr/>
        </p:nvPicPr>
        <p:blipFill>
          <a:blip r:embed="rId8"/>
          <a:stretch>
            <a:fillRect/>
          </a:stretch>
        </p:blipFill>
        <p:spPr>
          <a:xfrm>
            <a:off x="365154" y="5867400"/>
            <a:ext cx="8733076" cy="1330428"/>
          </a:xfrm>
          <a:prstGeom prst="rect">
            <a:avLst/>
          </a:prstGeom>
        </p:spPr>
      </p:pic>
    </p:spTree>
    <p:extLst>
      <p:ext uri="{BB962C8B-B14F-4D97-AF65-F5344CB8AC3E}">
        <p14:creationId xmlns:p14="http://schemas.microsoft.com/office/powerpoint/2010/main" val="13270930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AF869-60E9-7283-1E5C-031B97BB287B}"/>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D22CCC8F-8AC9-DA04-7DF6-792709DB8A61}"/>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D3CC7CDE-C0AA-8C40-F47A-6BB38775C793}"/>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251A7B03-12DB-BDB0-A823-3B5CC5C3EA9D}"/>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34C3D95F-A98E-C662-A8CA-7C226092743B}"/>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51ECD6EB-B411-BAC9-D612-83CAADD7C066}"/>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05340093-ADC0-C519-A46D-D43188C51895}"/>
              </a:ext>
            </a:extLst>
          </p:cNvPr>
          <p:cNvSpPr txBox="1">
            <a:spLocks noGrp="1"/>
          </p:cNvSpPr>
          <p:nvPr>
            <p:ph type="title"/>
          </p:nvPr>
        </p:nvSpPr>
        <p:spPr>
          <a:xfrm>
            <a:off x="4045472" y="42517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a16="http://schemas.microsoft.com/office/drawing/2014/main" id="{EC0178A3-A864-AC29-8239-3EE3EEC824D7}"/>
              </a:ext>
            </a:extLst>
          </p:cNvPr>
          <p:cNvPicPr/>
          <p:nvPr/>
        </p:nvPicPr>
        <p:blipFill>
          <a:blip r:embed="rId6"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88CC2DB0-515C-5729-13F5-411810B0A1D6}"/>
              </a:ext>
            </a:extLst>
          </p:cNvPr>
          <p:cNvSpPr txBox="1"/>
          <p:nvPr/>
        </p:nvSpPr>
        <p:spPr>
          <a:xfrm>
            <a:off x="290750" y="1091483"/>
            <a:ext cx="4585268"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Database Tables:</a:t>
            </a:r>
          </a:p>
        </p:txBody>
      </p:sp>
      <p:sp>
        <p:nvSpPr>
          <p:cNvPr id="12" name="TextBox 11">
            <a:extLst>
              <a:ext uri="{FF2B5EF4-FFF2-40B4-BE49-F238E27FC236}">
                <a16:creationId xmlns:a16="http://schemas.microsoft.com/office/drawing/2014/main" id="{BE4EB3E5-F5F4-BFDA-2030-B081D8DD8B72}"/>
              </a:ext>
            </a:extLst>
          </p:cNvPr>
          <p:cNvSpPr txBox="1"/>
          <p:nvPr/>
        </p:nvSpPr>
        <p:spPr>
          <a:xfrm>
            <a:off x="533400" y="1672310"/>
            <a:ext cx="8366948" cy="369332"/>
          </a:xfrm>
          <a:prstGeom prst="rect">
            <a:avLst/>
          </a:prstGeom>
          <a:noFill/>
        </p:spPr>
        <p:txBody>
          <a:bodyPr wrap="square">
            <a:spAutoFit/>
          </a:bodyPr>
          <a:lstStyle/>
          <a:p>
            <a:r>
              <a:rPr lang="en-IN" b="1" dirty="0"/>
              <a:t>Orders Table : </a:t>
            </a:r>
            <a:r>
              <a:rPr lang="en-US" dirty="0"/>
              <a:t>Stores all the placed orders details.</a:t>
            </a:r>
            <a:endParaRPr lang="en-IN" b="1" dirty="0"/>
          </a:p>
        </p:txBody>
      </p:sp>
      <p:pic>
        <p:nvPicPr>
          <p:cNvPr id="13" name="Picture 12">
            <a:extLst>
              <a:ext uri="{FF2B5EF4-FFF2-40B4-BE49-F238E27FC236}">
                <a16:creationId xmlns:a16="http://schemas.microsoft.com/office/drawing/2014/main" id="{5873E7C7-5106-6046-E8EA-20A1710BB635}"/>
              </a:ext>
            </a:extLst>
          </p:cNvPr>
          <p:cNvPicPr>
            <a:picLocks noChangeAspect="1"/>
          </p:cNvPicPr>
          <p:nvPr/>
        </p:nvPicPr>
        <p:blipFill>
          <a:blip r:embed="rId7"/>
          <a:stretch>
            <a:fillRect/>
          </a:stretch>
        </p:blipFill>
        <p:spPr>
          <a:xfrm>
            <a:off x="652172" y="2132641"/>
            <a:ext cx="8754055" cy="1909525"/>
          </a:xfrm>
          <a:prstGeom prst="rect">
            <a:avLst/>
          </a:prstGeom>
        </p:spPr>
      </p:pic>
      <p:sp>
        <p:nvSpPr>
          <p:cNvPr id="17" name="TextBox 16">
            <a:extLst>
              <a:ext uri="{FF2B5EF4-FFF2-40B4-BE49-F238E27FC236}">
                <a16:creationId xmlns:a16="http://schemas.microsoft.com/office/drawing/2014/main" id="{ABE1BBE0-829C-C7B9-632D-AA28C9250ED5}"/>
              </a:ext>
            </a:extLst>
          </p:cNvPr>
          <p:cNvSpPr txBox="1"/>
          <p:nvPr/>
        </p:nvSpPr>
        <p:spPr>
          <a:xfrm>
            <a:off x="652172" y="4133165"/>
            <a:ext cx="8001000" cy="369332"/>
          </a:xfrm>
          <a:prstGeom prst="rect">
            <a:avLst/>
          </a:prstGeom>
          <a:noFill/>
        </p:spPr>
        <p:txBody>
          <a:bodyPr wrap="square" rtlCol="0">
            <a:spAutoFit/>
          </a:bodyPr>
          <a:lstStyle/>
          <a:p>
            <a:r>
              <a:rPr lang="en-IN" b="1" dirty="0"/>
              <a:t>Coupons Table: </a:t>
            </a:r>
            <a:r>
              <a:rPr lang="en-IN" dirty="0"/>
              <a:t>Stores all the details of the available Coupons.</a:t>
            </a:r>
            <a:endParaRPr lang="en-IN" b="1" dirty="0"/>
          </a:p>
        </p:txBody>
      </p:sp>
      <p:pic>
        <p:nvPicPr>
          <p:cNvPr id="20" name="Picture 19">
            <a:extLst>
              <a:ext uri="{FF2B5EF4-FFF2-40B4-BE49-F238E27FC236}">
                <a16:creationId xmlns:a16="http://schemas.microsoft.com/office/drawing/2014/main" id="{747F5E1E-067E-A265-3149-9DD8176F1D0B}"/>
              </a:ext>
            </a:extLst>
          </p:cNvPr>
          <p:cNvPicPr>
            <a:picLocks noChangeAspect="1"/>
          </p:cNvPicPr>
          <p:nvPr/>
        </p:nvPicPr>
        <p:blipFill>
          <a:blip r:embed="rId8"/>
          <a:stretch>
            <a:fillRect/>
          </a:stretch>
        </p:blipFill>
        <p:spPr>
          <a:xfrm>
            <a:off x="687441" y="4800599"/>
            <a:ext cx="8718786" cy="1187239"/>
          </a:xfrm>
          <a:prstGeom prst="rect">
            <a:avLst/>
          </a:prstGeom>
        </p:spPr>
      </p:pic>
    </p:spTree>
    <p:extLst>
      <p:ext uri="{BB962C8B-B14F-4D97-AF65-F5344CB8AC3E}">
        <p14:creationId xmlns:p14="http://schemas.microsoft.com/office/powerpoint/2010/main" val="10966943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1271227-37A8-BD2E-DA5F-9D1409CD539E}"/>
              </a:ext>
            </a:extLst>
          </p:cNvPr>
          <p:cNvSpPr txBox="1"/>
          <p:nvPr/>
        </p:nvSpPr>
        <p:spPr>
          <a:xfrm>
            <a:off x="872251" y="1037173"/>
            <a:ext cx="7924801" cy="539378"/>
          </a:xfrm>
          <a:prstGeom prst="rect">
            <a:avLst/>
          </a:prstGeom>
          <a:noFill/>
        </p:spPr>
        <p:txBody>
          <a:bodyPr wrap="square" rtlCol="0">
            <a:spAutoFit/>
          </a:bodyPr>
          <a:lstStyle/>
          <a:p>
            <a:pPr algn="just">
              <a:lnSpc>
                <a:spcPct val="150000"/>
              </a:lnSpc>
            </a:pPr>
            <a:r>
              <a:rPr lang="en-IN" sz="2200" b="1" dirty="0">
                <a:latin typeface="Times New Roman" panose="02020603050405020304" pitchFamily="18" charset="0"/>
                <a:cs typeface="Times New Roman" panose="02020603050405020304" pitchFamily="18" charset="0"/>
              </a:rPr>
              <a:t>Modules:</a:t>
            </a:r>
            <a:endParaRPr lang="en-IN" b="1" dirty="0">
              <a:latin typeface="Times New Roman" panose="02020603050405020304" pitchFamily="18" charset="0"/>
              <a:cs typeface="Times New Roman" panose="02020603050405020304" pitchFamily="18" charset="0"/>
            </a:endParaRPr>
          </a:p>
        </p:txBody>
      </p:sp>
      <p:grpSp>
        <p:nvGrpSpPr>
          <p:cNvPr id="5" name="object 3">
            <a:extLst>
              <a:ext uri="{FF2B5EF4-FFF2-40B4-BE49-F238E27FC236}">
                <a16:creationId xmlns:a16="http://schemas.microsoft.com/office/drawing/2014/main" id="{21ABBE52-8710-4E6B-00A1-6AE2E264A905}"/>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BB01548A-FFE9-E3D8-12A9-78CF21156550}"/>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C2274CD8-F01F-9319-4AED-E01AFBB7B3F4}"/>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798807C2-A29E-0BF3-6CFE-592456DB3D5A}"/>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0012A6F5-DCDD-5346-54A8-BF352762053D}"/>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3953B3A5-B246-55AD-515B-436ED9F0D042}"/>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DESIGN</a:t>
            </a:r>
          </a:p>
        </p:txBody>
      </p:sp>
      <p:pic>
        <p:nvPicPr>
          <p:cNvPr id="11" name="object 3">
            <a:extLst>
              <a:ext uri="{FF2B5EF4-FFF2-40B4-BE49-F238E27FC236}">
                <a16:creationId xmlns:a16="http://schemas.microsoft.com/office/drawing/2014/main" id="{A01798C2-99DE-A723-BAF6-CF11F4E8C1FC}"/>
              </a:ext>
            </a:extLst>
          </p:cNvPr>
          <p:cNvPicPr/>
          <p:nvPr/>
        </p:nvPicPr>
        <p:blipFill>
          <a:blip r:embed="rId6" cstate="print"/>
          <a:stretch>
            <a:fillRect/>
          </a:stretch>
        </p:blipFill>
        <p:spPr>
          <a:xfrm>
            <a:off x="290750" y="204311"/>
            <a:ext cx="1163002" cy="424338"/>
          </a:xfrm>
          <a:prstGeom prst="rect">
            <a:avLst/>
          </a:prstGeom>
        </p:spPr>
      </p:pic>
      <p:sp>
        <p:nvSpPr>
          <p:cNvPr id="3" name="Rectangle 2">
            <a:extLst>
              <a:ext uri="{FF2B5EF4-FFF2-40B4-BE49-F238E27FC236}">
                <a16:creationId xmlns:a16="http://schemas.microsoft.com/office/drawing/2014/main" id="{427F592F-CD2D-62B7-8C93-FE23DBE54C86}"/>
              </a:ext>
            </a:extLst>
          </p:cNvPr>
          <p:cNvSpPr>
            <a:spLocks noChangeArrowheads="1"/>
          </p:cNvSpPr>
          <p:nvPr/>
        </p:nvSpPr>
        <p:spPr bwMode="auto">
          <a:xfrm>
            <a:off x="837614" y="1556888"/>
            <a:ext cx="8687385" cy="58580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Product Management Module:</a:t>
            </a:r>
            <a:r>
              <a:rPr kumimoji="0" lang="en-US" altLang="en-US" sz="1800" b="0" i="0" u="none" strike="noStrike" cap="none" normalizeH="0" baseline="0" dirty="0">
                <a:ln>
                  <a:noFill/>
                </a:ln>
                <a:solidFill>
                  <a:schemeClr val="tx1"/>
                </a:solidFill>
                <a:effectLst/>
                <a:latin typeface="Arial" panose="020B0604020202020204" pitchFamily="34" charset="0"/>
              </a:rPr>
              <a:t> Handles adding, updating, deleting, and displaying product details. </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Cart Management Module:</a:t>
            </a:r>
            <a:r>
              <a:rPr kumimoji="0" lang="en-US" altLang="en-US" sz="1800" b="0" i="0" u="none" strike="noStrike" cap="none" normalizeH="0" baseline="0" dirty="0">
                <a:ln>
                  <a:noFill/>
                </a:ln>
                <a:solidFill>
                  <a:schemeClr val="tx1"/>
                </a:solidFill>
                <a:effectLst/>
                <a:latin typeface="Arial" panose="020B0604020202020204" pitchFamily="34" charset="0"/>
              </a:rPr>
              <a:t> Manages cart operations including adding products, updating quantities, and preventing duplicates. </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Order Management Module:</a:t>
            </a:r>
            <a:r>
              <a:rPr kumimoji="0" lang="en-US" altLang="en-US" sz="1800" b="0" i="0" u="none" strike="noStrike" cap="none" normalizeH="0" baseline="0" dirty="0">
                <a:ln>
                  <a:noFill/>
                </a:ln>
                <a:solidFill>
                  <a:schemeClr val="tx1"/>
                </a:solidFill>
                <a:effectLst/>
                <a:latin typeface="Arial" panose="020B0604020202020204" pitchFamily="34" charset="0"/>
              </a:rPr>
              <a:t> Processes orders, stores order details, and displays order history. </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Coupon Module:</a:t>
            </a:r>
            <a:r>
              <a:rPr kumimoji="0" lang="en-US" altLang="en-US" sz="1800" b="0" i="0" u="none" strike="noStrike" cap="none" normalizeH="0" baseline="0" dirty="0">
                <a:ln>
                  <a:noFill/>
                </a:ln>
                <a:solidFill>
                  <a:schemeClr val="tx1"/>
                </a:solidFill>
                <a:effectLst/>
                <a:latin typeface="Arial" panose="020B0604020202020204" pitchFamily="34" charset="0"/>
              </a:rPr>
              <a:t> Validates coupons and applies discounts based on conditions and purchase amount. </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Database Connectivity Module:</a:t>
            </a:r>
            <a:r>
              <a:rPr kumimoji="0" lang="en-US" altLang="en-US" sz="1800" b="0" i="0" u="none" strike="noStrike" cap="none" normalizeH="0" baseline="0" dirty="0">
                <a:ln>
                  <a:noFill/>
                </a:ln>
                <a:solidFill>
                  <a:schemeClr val="tx1"/>
                </a:solidFill>
                <a:effectLst/>
                <a:latin typeface="Arial" panose="020B0604020202020204" pitchFamily="34" charset="0"/>
              </a:rPr>
              <a:t> Connects the application to MySQL and performs CRUD operations using JDBC. </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User Interface Module:</a:t>
            </a:r>
            <a:r>
              <a:rPr kumimoji="0" lang="en-US" altLang="en-US" sz="1800" b="0" i="0" u="none" strike="noStrike" cap="none" normalizeH="0" baseline="0" dirty="0">
                <a:ln>
                  <a:noFill/>
                </a:ln>
                <a:solidFill>
                  <a:schemeClr val="tx1"/>
                </a:solidFill>
                <a:effectLst/>
                <a:latin typeface="Arial" panose="020B0604020202020204" pitchFamily="34" charset="0"/>
              </a:rPr>
              <a:t> Provides a Swing-based GUI and handles user interactions. </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Image Handling Module:</a:t>
            </a:r>
            <a:r>
              <a:rPr kumimoji="0" lang="en-US" altLang="en-US" sz="1800" b="0" i="0" u="none" strike="noStrike" cap="none" normalizeH="0" baseline="0" dirty="0">
                <a:ln>
                  <a:noFill/>
                </a:ln>
                <a:solidFill>
                  <a:schemeClr val="tx1"/>
                </a:solidFill>
                <a:effectLst/>
                <a:latin typeface="Arial" panose="020B0604020202020204" pitchFamily="34" charset="0"/>
              </a:rPr>
              <a:t> Manages uploading, displaying, and resizing product images. </a:t>
            </a:r>
          </a:p>
        </p:txBody>
      </p:sp>
    </p:spTree>
    <p:extLst>
      <p:ext uri="{BB962C8B-B14F-4D97-AF65-F5344CB8AC3E}">
        <p14:creationId xmlns:p14="http://schemas.microsoft.com/office/powerpoint/2010/main" val="3144958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17A6E-C969-4FC6-1638-B02DC9858D8E}"/>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18CD80CE-9A20-C3F9-675C-6A5559C46A59}"/>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4EE6F78B-EB8B-E507-510F-5E3E95B98B6F}"/>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60BFA710-1140-7847-52D3-8D6778096E5F}"/>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49D1D7BE-6FAB-E379-94E6-040D6A76585E}"/>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2191A9B2-D3E3-35FE-4108-715E3C7C4CA7}"/>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00A15CDC-61F7-A7B4-E469-6B0C1199925B}"/>
              </a:ext>
            </a:extLst>
          </p:cNvPr>
          <p:cNvSpPr txBox="1">
            <a:spLocks noGrp="1"/>
          </p:cNvSpPr>
          <p:nvPr>
            <p:ph type="title"/>
          </p:nvPr>
        </p:nvSpPr>
        <p:spPr>
          <a:xfrm>
            <a:off x="3945254" y="432593"/>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C4C71D08-C2F1-0E7E-1D5D-669DEF4FBD1A}"/>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06B09BF8-939E-6C76-4342-E04259FF568B}"/>
              </a:ext>
            </a:extLst>
          </p:cNvPr>
          <p:cNvSpPr txBox="1"/>
          <p:nvPr/>
        </p:nvSpPr>
        <p:spPr>
          <a:xfrm>
            <a:off x="990600" y="1449777"/>
            <a:ext cx="8763000" cy="708912"/>
          </a:xfrm>
          <a:prstGeom prst="rect">
            <a:avLst/>
          </a:prstGeom>
          <a:noFill/>
        </p:spPr>
        <p:txBody>
          <a:bodyPr wrap="square">
            <a:spAutoFit/>
          </a:bodyPr>
          <a:lstStyle/>
          <a:p>
            <a:pPr>
              <a:lnSpc>
                <a:spcPct val="115000"/>
              </a:lnSpc>
              <a:spcAft>
                <a:spcPts val="800"/>
              </a:spcAft>
              <a:buNone/>
            </a:pPr>
            <a:r>
              <a:rPr lang="en-US" b="1" dirty="0">
                <a:latin typeface="Times New Roman" panose="02020603050405020304" pitchFamily="18" charset="0"/>
                <a:cs typeface="Times New Roman" panose="02020603050405020304" pitchFamily="18" charset="0"/>
              </a:rPr>
              <a:t>Login Screen: </a:t>
            </a:r>
            <a:r>
              <a:rPr lang="en-US" dirty="0">
                <a:latin typeface="Times New Roman" panose="02020603050405020304" pitchFamily="18" charset="0"/>
                <a:cs typeface="Times New Roman" panose="02020603050405020304" pitchFamily="18" charset="0"/>
              </a:rPr>
              <a:t>Displays the login interface where the user enters username, password and user type. </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12" name="Picture 11">
            <a:extLst>
              <a:ext uri="{FF2B5EF4-FFF2-40B4-BE49-F238E27FC236}">
                <a16:creationId xmlns:a16="http://schemas.microsoft.com/office/drawing/2014/main" id="{24A3C9F8-7E85-93BE-2007-A3385A406049}"/>
              </a:ext>
            </a:extLst>
          </p:cNvPr>
          <p:cNvPicPr>
            <a:picLocks noChangeAspect="1"/>
          </p:cNvPicPr>
          <p:nvPr/>
        </p:nvPicPr>
        <p:blipFill>
          <a:blip r:embed="rId7"/>
          <a:stretch>
            <a:fillRect/>
          </a:stretch>
        </p:blipFill>
        <p:spPr>
          <a:xfrm>
            <a:off x="990600" y="2438400"/>
            <a:ext cx="8382000" cy="4789714"/>
          </a:xfrm>
          <a:prstGeom prst="rect">
            <a:avLst/>
          </a:prstGeom>
        </p:spPr>
      </p:pic>
    </p:spTree>
    <p:extLst>
      <p:ext uri="{BB962C8B-B14F-4D97-AF65-F5344CB8AC3E}">
        <p14:creationId xmlns:p14="http://schemas.microsoft.com/office/powerpoint/2010/main" val="25142697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882AF-3F85-D02B-B167-92BB06FA78F0}"/>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51F8D081-5351-6A34-F61D-4BFC9E697C5D}"/>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5B86A6D7-44C7-3F2E-0E87-B0BE38F5E600}"/>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00CAD93E-47B3-5F1C-50C3-CCFC6FA0C347}"/>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D61A56A4-0FD7-4B40-8D6B-4C66C95E7C91}"/>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CA7F524B-FE9E-1FF8-1621-5EDB9B2A9EB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CFAF95C4-DE06-BB07-8BE1-1C14ACA3AC98}"/>
              </a:ext>
            </a:extLst>
          </p:cNvPr>
          <p:cNvSpPr txBox="1">
            <a:spLocks noGrp="1"/>
          </p:cNvSpPr>
          <p:nvPr>
            <p:ph type="title"/>
          </p:nvPr>
        </p:nvSpPr>
        <p:spPr>
          <a:xfrm>
            <a:off x="3724479" y="411877"/>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C43AD385-1BD8-C19B-6526-BBB862770E82}"/>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B8DE39BD-B38D-F038-C3C2-37F3F226C77D}"/>
              </a:ext>
            </a:extLst>
          </p:cNvPr>
          <p:cNvSpPr txBox="1"/>
          <p:nvPr/>
        </p:nvSpPr>
        <p:spPr>
          <a:xfrm>
            <a:off x="990600" y="1449777"/>
            <a:ext cx="8763000" cy="646331"/>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Welcome Screen: </a:t>
            </a:r>
            <a:r>
              <a:rPr lang="en-US" dirty="0">
                <a:latin typeface="Times New Roman" panose="02020603050405020304" pitchFamily="18" charset="0"/>
                <a:cs typeface="Times New Roman" panose="02020603050405020304" pitchFamily="18" charset="0"/>
              </a:rPr>
              <a:t>The welcome page shows all the categories and top 5 products in each category. </a:t>
            </a:r>
            <a:endParaRPr lang="en-IN" sz="1800"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8479E9A9-055F-BDB7-9C08-AD3A1B9CC4B6}"/>
              </a:ext>
            </a:extLst>
          </p:cNvPr>
          <p:cNvPicPr>
            <a:picLocks noChangeAspect="1"/>
          </p:cNvPicPr>
          <p:nvPr/>
        </p:nvPicPr>
        <p:blipFill>
          <a:blip r:embed="rId7"/>
          <a:stretch>
            <a:fillRect/>
          </a:stretch>
        </p:blipFill>
        <p:spPr>
          <a:xfrm>
            <a:off x="1028700" y="2180536"/>
            <a:ext cx="8343900" cy="4755591"/>
          </a:xfrm>
          <a:prstGeom prst="rect">
            <a:avLst/>
          </a:prstGeom>
        </p:spPr>
      </p:pic>
    </p:spTree>
    <p:extLst>
      <p:ext uri="{BB962C8B-B14F-4D97-AF65-F5344CB8AC3E}">
        <p14:creationId xmlns:p14="http://schemas.microsoft.com/office/powerpoint/2010/main" val="29724830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A61D0-099F-C774-0062-C8956AD10B14}"/>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C44C1A33-7C14-0DEB-3965-284AF49FCF96}"/>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B5AD8913-F996-8CEC-7934-417EC50677A9}"/>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C4C01121-5342-6ED4-E848-5F0A26A4F298}"/>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E76C04D3-36A1-A3D8-4753-54D754D06823}"/>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DEDA527A-944E-DD9F-9390-C3FE8A62152A}"/>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E1E0144C-CD6A-71E3-CB87-9E558AD5FF4A}"/>
              </a:ext>
            </a:extLst>
          </p:cNvPr>
          <p:cNvSpPr txBox="1">
            <a:spLocks noGrp="1"/>
          </p:cNvSpPr>
          <p:nvPr>
            <p:ph type="title"/>
          </p:nvPr>
        </p:nvSpPr>
        <p:spPr>
          <a:xfrm>
            <a:off x="3724479" y="450118"/>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63F76BCB-14FA-BBEA-1CDB-64C0E4637DB7}"/>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7E08911D-DB8D-864A-A56A-021103D1465A}"/>
              </a:ext>
            </a:extLst>
          </p:cNvPr>
          <p:cNvSpPr txBox="1"/>
          <p:nvPr/>
        </p:nvSpPr>
        <p:spPr>
          <a:xfrm>
            <a:off x="990600" y="1449777"/>
            <a:ext cx="8763000"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Product Page: </a:t>
            </a:r>
            <a:r>
              <a:rPr lang="en-US" dirty="0">
                <a:latin typeface="Times New Roman" panose="02020603050405020304" pitchFamily="18" charset="0"/>
                <a:cs typeface="Times New Roman" panose="02020603050405020304" pitchFamily="18" charset="0"/>
              </a:rPr>
              <a:t>Shows the product details.</a:t>
            </a:r>
            <a:endParaRPr lang="en-IN" sz="1800"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31D00991-B162-3F91-2C93-33C2DF6972E2}"/>
              </a:ext>
            </a:extLst>
          </p:cNvPr>
          <p:cNvPicPr>
            <a:picLocks noChangeAspect="1"/>
          </p:cNvPicPr>
          <p:nvPr/>
        </p:nvPicPr>
        <p:blipFill>
          <a:blip r:embed="rId7"/>
          <a:stretch>
            <a:fillRect/>
          </a:stretch>
        </p:blipFill>
        <p:spPr>
          <a:xfrm>
            <a:off x="990600" y="1912942"/>
            <a:ext cx="8229600" cy="4688958"/>
          </a:xfrm>
          <a:prstGeom prst="rect">
            <a:avLst/>
          </a:prstGeom>
        </p:spPr>
      </p:pic>
    </p:spTree>
    <p:extLst>
      <p:ext uri="{BB962C8B-B14F-4D97-AF65-F5344CB8AC3E}">
        <p14:creationId xmlns:p14="http://schemas.microsoft.com/office/powerpoint/2010/main" val="3599639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FAADD-4D19-CE1A-A0AE-6EEF35365F00}"/>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D7B9191B-FE96-8A59-9690-2C061E758CB3}"/>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20D78732-F9B9-1FDA-D8E5-B64B1742716B}"/>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0F82D761-8FA6-96D2-9CDC-DFD4213896D4}"/>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678599C3-BD7C-742E-28E2-F7E1A4CB43D8}"/>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9F6FA399-08A4-A0BD-F528-C5D21B7052B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8F364F5D-D793-1E9D-BAE2-D5AEB2FAA6EF}"/>
              </a:ext>
            </a:extLst>
          </p:cNvPr>
          <p:cNvSpPr txBox="1">
            <a:spLocks noGrp="1"/>
          </p:cNvSpPr>
          <p:nvPr>
            <p:ph type="title"/>
          </p:nvPr>
        </p:nvSpPr>
        <p:spPr>
          <a:xfrm>
            <a:off x="3886200" y="416480"/>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3FA4B9F1-F58E-6088-7BFB-C923676C0FFD}"/>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DFDFF7E8-2D7E-EE44-718C-EFE70C9A2E40}"/>
              </a:ext>
            </a:extLst>
          </p:cNvPr>
          <p:cNvSpPr txBox="1"/>
          <p:nvPr/>
        </p:nvSpPr>
        <p:spPr>
          <a:xfrm>
            <a:off x="990600" y="1449777"/>
            <a:ext cx="8763000"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Add Products: </a:t>
            </a:r>
            <a:r>
              <a:rPr lang="en-US" dirty="0">
                <a:latin typeface="Times New Roman" panose="02020603050405020304" pitchFamily="18" charset="0"/>
                <a:cs typeface="Times New Roman" panose="02020603050405020304" pitchFamily="18" charset="0"/>
              </a:rPr>
              <a:t>The page that allow the seller add new products.</a:t>
            </a:r>
            <a:endParaRPr lang="en-IN" sz="1800"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C886A09C-7CD2-E1F9-D0C9-BC6B861152C6}"/>
              </a:ext>
            </a:extLst>
          </p:cNvPr>
          <p:cNvPicPr>
            <a:picLocks noChangeAspect="1"/>
          </p:cNvPicPr>
          <p:nvPr/>
        </p:nvPicPr>
        <p:blipFill>
          <a:blip r:embed="rId7"/>
          <a:stretch>
            <a:fillRect/>
          </a:stretch>
        </p:blipFill>
        <p:spPr>
          <a:xfrm>
            <a:off x="990600" y="2144898"/>
            <a:ext cx="8001000" cy="4507024"/>
          </a:xfrm>
          <a:prstGeom prst="rect">
            <a:avLst/>
          </a:prstGeom>
        </p:spPr>
      </p:pic>
    </p:spTree>
    <p:extLst>
      <p:ext uri="{BB962C8B-B14F-4D97-AF65-F5344CB8AC3E}">
        <p14:creationId xmlns:p14="http://schemas.microsoft.com/office/powerpoint/2010/main" val="40492491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C7B00-87ED-C465-5B0A-EE516AB5A7BF}"/>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305B9540-F057-8708-1690-2DA6E0D63E3E}"/>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0A5FA843-66B2-6FD7-0C24-1FF68785E6C5}"/>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55E8696A-064D-844C-A440-FB5996A62050}"/>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92F5A62B-3F68-F12B-99BC-98B2617016FF}"/>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5132A15F-2A7B-FAE9-E940-8694F56A1638}"/>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9B865BF3-32FF-E9E6-64A5-CDB65D7DFEA1}"/>
              </a:ext>
            </a:extLst>
          </p:cNvPr>
          <p:cNvSpPr txBox="1">
            <a:spLocks noGrp="1"/>
          </p:cNvSpPr>
          <p:nvPr>
            <p:ph type="title"/>
          </p:nvPr>
        </p:nvSpPr>
        <p:spPr>
          <a:xfrm>
            <a:off x="3886200" y="416480"/>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AAD0B272-BCD5-7CCB-E8FB-A6461C460891}"/>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D38F4E41-B4F4-1C54-E964-F2EF83F8C4D6}"/>
              </a:ext>
            </a:extLst>
          </p:cNvPr>
          <p:cNvSpPr txBox="1"/>
          <p:nvPr/>
        </p:nvSpPr>
        <p:spPr>
          <a:xfrm>
            <a:off x="990600" y="1449777"/>
            <a:ext cx="8763000"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Edit Products: </a:t>
            </a:r>
            <a:r>
              <a:rPr lang="en-US" dirty="0">
                <a:latin typeface="Times New Roman" panose="02020603050405020304" pitchFamily="18" charset="0"/>
                <a:cs typeface="Times New Roman" panose="02020603050405020304" pitchFamily="18" charset="0"/>
              </a:rPr>
              <a:t>The page that allow the seller edit already existing products.</a:t>
            </a:r>
            <a:endParaRPr lang="en-IN"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2CAF66D-7A94-E685-E9E3-8EB95FDDBB0F}"/>
              </a:ext>
            </a:extLst>
          </p:cNvPr>
          <p:cNvPicPr>
            <a:picLocks noChangeAspect="1"/>
          </p:cNvPicPr>
          <p:nvPr/>
        </p:nvPicPr>
        <p:blipFill>
          <a:blip r:embed="rId7"/>
          <a:stretch>
            <a:fillRect/>
          </a:stretch>
        </p:blipFill>
        <p:spPr>
          <a:xfrm>
            <a:off x="609600" y="2082622"/>
            <a:ext cx="8526016" cy="4851578"/>
          </a:xfrm>
          <a:prstGeom prst="rect">
            <a:avLst/>
          </a:prstGeom>
        </p:spPr>
      </p:pic>
    </p:spTree>
    <p:extLst>
      <p:ext uri="{BB962C8B-B14F-4D97-AF65-F5344CB8AC3E}">
        <p14:creationId xmlns:p14="http://schemas.microsoft.com/office/powerpoint/2010/main" val="7373890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66B15-FBBA-88E4-439B-3760D86B920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0E93131E-D2BB-EC5C-2A95-924FDF20D02E}"/>
              </a:ext>
            </a:extLst>
          </p:cNvPr>
          <p:cNvSpPr txBox="1"/>
          <p:nvPr/>
        </p:nvSpPr>
        <p:spPr>
          <a:xfrm>
            <a:off x="314911" y="1143000"/>
            <a:ext cx="9448800" cy="6036974"/>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000" b="1" dirty="0"/>
              <a:t>Online Payment Integration: </a:t>
            </a:r>
            <a:r>
              <a:rPr lang="en-US" sz="2000" dirty="0"/>
              <a:t>Adding secure payment options such as credit/debit cards, UPI, or digital wallets to enable complete online transactions </a:t>
            </a:r>
          </a:p>
          <a:p>
            <a:pPr marL="342900" indent="-342900" algn="just">
              <a:lnSpc>
                <a:spcPct val="150000"/>
              </a:lnSpc>
              <a:buFont typeface="Arial" panose="020B0604020202020204" pitchFamily="34" charset="0"/>
              <a:buChar char="•"/>
            </a:pPr>
            <a:r>
              <a:rPr lang="en-US" sz="2000" b="1" dirty="0"/>
              <a:t>Web-Based Application: </a:t>
            </a:r>
            <a:r>
              <a:rPr lang="en-US" sz="2000" dirty="0"/>
              <a:t>Converting the desktop application into a web-based system to allow access from anywhere</a:t>
            </a:r>
          </a:p>
          <a:p>
            <a:pPr marL="342900" indent="-342900" algn="just">
              <a:lnSpc>
                <a:spcPct val="150000"/>
              </a:lnSpc>
              <a:buFont typeface="Arial" panose="020B0604020202020204" pitchFamily="34" charset="0"/>
              <a:buChar char="•"/>
            </a:pPr>
            <a:r>
              <a:rPr lang="en-US" sz="2000" b="1" dirty="0"/>
              <a:t>Order Tracking System: </a:t>
            </a:r>
            <a:r>
              <a:rPr lang="en-US" sz="2000" dirty="0"/>
              <a:t>Providing real-time tracking of orders and delivery status for users </a:t>
            </a:r>
          </a:p>
          <a:p>
            <a:pPr marL="342900" indent="-342900" algn="just">
              <a:lnSpc>
                <a:spcPct val="150000"/>
              </a:lnSpc>
              <a:buFont typeface="Arial" panose="020B0604020202020204" pitchFamily="34" charset="0"/>
              <a:buChar char="•"/>
            </a:pPr>
            <a:r>
              <a:rPr lang="en-US" sz="2000" b="1" dirty="0"/>
              <a:t>Product Recommendation System: </a:t>
            </a:r>
            <a:r>
              <a:rPr lang="en-US" sz="2000" dirty="0"/>
              <a:t>Suggesting products based on user preferences and purchase history</a:t>
            </a:r>
          </a:p>
          <a:p>
            <a:pPr marL="342900" indent="-342900" algn="just">
              <a:lnSpc>
                <a:spcPct val="150000"/>
              </a:lnSpc>
              <a:buFont typeface="Arial" panose="020B0604020202020204" pitchFamily="34" charset="0"/>
              <a:buChar char="•"/>
            </a:pPr>
            <a:r>
              <a:rPr lang="en-US" sz="2000" b="1" dirty="0"/>
              <a:t>Admin Dashboard: </a:t>
            </a:r>
            <a:r>
              <a:rPr lang="en-US" sz="2000" dirty="0"/>
              <a:t>Adding a centralized admin panel to manage users, products, and orders efficiently </a:t>
            </a:r>
          </a:p>
          <a:p>
            <a:pPr marL="342900" indent="-342900" algn="just">
              <a:lnSpc>
                <a:spcPct val="150000"/>
              </a:lnSpc>
              <a:buFont typeface="Arial" panose="020B0604020202020204" pitchFamily="34" charset="0"/>
              <a:buChar char="•"/>
            </a:pPr>
            <a:r>
              <a:rPr lang="en-US" sz="2000" b="1" dirty="0"/>
              <a:t>Improved User Interface: </a:t>
            </a:r>
            <a:r>
              <a:rPr lang="en-US" sz="2000" dirty="0"/>
              <a:t>Enhancing the design and layout for a more modern and responsive user experience These enhancements can make the system more scalable, secure, and closer to </a:t>
            </a:r>
            <a:r>
              <a:rPr lang="en-US" sz="2000" dirty="0" err="1"/>
              <a:t>realworld</a:t>
            </a:r>
            <a:r>
              <a:rPr lang="en-US" sz="2000" dirty="0"/>
              <a:t> e-commerce platforms</a:t>
            </a:r>
            <a:endParaRPr lang="en-IN" sz="2000" dirty="0"/>
          </a:p>
        </p:txBody>
      </p:sp>
      <p:grpSp>
        <p:nvGrpSpPr>
          <p:cNvPr id="7" name="object 3">
            <a:extLst>
              <a:ext uri="{FF2B5EF4-FFF2-40B4-BE49-F238E27FC236}">
                <a16:creationId xmlns:a16="http://schemas.microsoft.com/office/drawing/2014/main" id="{2AA4C980-B3A7-207C-41C1-E5E20AC1774F}"/>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FCE0C84F-6254-D24F-D561-30DE987BE354}"/>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7909B96B-5C39-8043-CA2D-5B828EFA7574}"/>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C5015D36-BC2F-3B81-753E-F473E84B785D}"/>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F2E63626-00F9-C9BD-F925-C51513AE50EF}"/>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D4D54D4E-EE1A-E311-1FB3-DF54075DFCDF}"/>
              </a:ext>
            </a:extLst>
          </p:cNvPr>
          <p:cNvSpPr txBox="1">
            <a:spLocks noGrp="1"/>
          </p:cNvSpPr>
          <p:nvPr>
            <p:ph type="title"/>
          </p:nvPr>
        </p:nvSpPr>
        <p:spPr>
          <a:xfrm>
            <a:off x="3649027" y="438046"/>
            <a:ext cx="27603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Future Enhancements</a:t>
            </a:r>
          </a:p>
        </p:txBody>
      </p:sp>
      <p:pic>
        <p:nvPicPr>
          <p:cNvPr id="13" name="object 3">
            <a:extLst>
              <a:ext uri="{FF2B5EF4-FFF2-40B4-BE49-F238E27FC236}">
                <a16:creationId xmlns:a16="http://schemas.microsoft.com/office/drawing/2014/main" id="{A2987431-337A-DB3D-5560-70B732DBEDE6}"/>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12187896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02E41-7E6E-9AB7-4311-D58503EE456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5376381-AD7A-228D-6305-1256490B7F5E}"/>
              </a:ext>
            </a:extLst>
          </p:cNvPr>
          <p:cNvSpPr txBox="1"/>
          <p:nvPr/>
        </p:nvSpPr>
        <p:spPr>
          <a:xfrm>
            <a:off x="304800" y="1034052"/>
            <a:ext cx="9448800" cy="5990807"/>
          </a:xfrm>
          <a:prstGeom prst="rect">
            <a:avLst/>
          </a:prstGeom>
          <a:noFill/>
        </p:spPr>
        <p:txBody>
          <a:bodyPr wrap="square" rtlCol="0">
            <a:spAutoFit/>
          </a:bodyPr>
          <a:lstStyle/>
          <a:p>
            <a:pPr>
              <a:lnSpc>
                <a:spcPct val="150000"/>
              </a:lnSpc>
            </a:pPr>
            <a:r>
              <a:rPr lang="en-IN" sz="2000" dirty="0"/>
              <a:t>The following references were used during the development of the Employee Management System:</a:t>
            </a:r>
          </a:p>
          <a:p>
            <a:pPr marL="714375" lvl="2" indent="-285750">
              <a:lnSpc>
                <a:spcPct val="150000"/>
              </a:lnSpc>
              <a:buFont typeface="Arial" panose="020B0604020202020204" pitchFamily="34" charset="0"/>
              <a:buChar char="•"/>
            </a:pPr>
            <a:r>
              <a:rPr lang="en-IN" b="1" dirty="0"/>
              <a:t>Herbert Schildt</a:t>
            </a:r>
            <a:r>
              <a:rPr lang="en-IN" dirty="0"/>
              <a:t>, </a:t>
            </a:r>
            <a:r>
              <a:rPr lang="en-IN" i="1" dirty="0"/>
              <a:t>Java: The Complete Reference</a:t>
            </a:r>
            <a:r>
              <a:rPr lang="en-IN" dirty="0"/>
              <a:t>, Oracle Press, 11th Edition.</a:t>
            </a:r>
          </a:p>
          <a:p>
            <a:pPr marL="714375" lvl="2" indent="-285750">
              <a:lnSpc>
                <a:spcPct val="150000"/>
              </a:lnSpc>
              <a:buFont typeface="Arial" panose="020B0604020202020204" pitchFamily="34" charset="0"/>
              <a:buChar char="•"/>
            </a:pPr>
            <a:r>
              <a:rPr lang="en-IN" b="1" dirty="0"/>
              <a:t>E. </a:t>
            </a:r>
            <a:r>
              <a:rPr lang="en-IN" b="1" dirty="0" err="1"/>
              <a:t>Balagurusamy</a:t>
            </a:r>
            <a:r>
              <a:rPr lang="en-IN" dirty="0"/>
              <a:t>, </a:t>
            </a:r>
            <a:r>
              <a:rPr lang="en-IN" i="1" dirty="0"/>
              <a:t>Programming with Java</a:t>
            </a:r>
            <a:r>
              <a:rPr lang="en-IN" dirty="0"/>
              <a:t>, McGraw Hill Education.</a:t>
            </a:r>
          </a:p>
          <a:p>
            <a:pPr marL="714375" lvl="2" indent="-285750">
              <a:lnSpc>
                <a:spcPct val="150000"/>
              </a:lnSpc>
              <a:buFont typeface="Arial" panose="020B0604020202020204" pitchFamily="34" charset="0"/>
              <a:buChar char="•"/>
            </a:pPr>
            <a:r>
              <a:rPr lang="en-IN" b="1" dirty="0"/>
              <a:t>Korth, Silberschatz, Sudarshan</a:t>
            </a:r>
            <a:r>
              <a:rPr lang="en-IN" dirty="0"/>
              <a:t>, </a:t>
            </a:r>
            <a:r>
              <a:rPr lang="en-IN" i="1" dirty="0"/>
              <a:t>Database System Concepts</a:t>
            </a:r>
            <a:r>
              <a:rPr lang="en-IN" dirty="0"/>
              <a:t>, McGraw Hill.</a:t>
            </a:r>
          </a:p>
          <a:p>
            <a:pPr marL="714375" lvl="2" indent="-285750">
              <a:lnSpc>
                <a:spcPct val="150000"/>
              </a:lnSpc>
              <a:buFont typeface="Arial" panose="020B0604020202020204" pitchFamily="34" charset="0"/>
              <a:buChar char="•"/>
            </a:pPr>
            <a:r>
              <a:rPr lang="en-IN" b="1" dirty="0"/>
              <a:t>Java Documentation (Oracle)</a:t>
            </a:r>
            <a:r>
              <a:rPr lang="en-IN" dirty="0"/>
              <a:t>,</a:t>
            </a:r>
            <a:br>
              <a:rPr lang="en-IN" dirty="0"/>
            </a:br>
            <a:r>
              <a:rPr lang="en-IN" u="sng" dirty="0">
                <a:hlinkClick r:id="rId2"/>
              </a:rPr>
              <a:t>https://docs.oracle.com/javase</a:t>
            </a:r>
            <a:endParaRPr lang="en-IN" dirty="0"/>
          </a:p>
          <a:p>
            <a:pPr marL="714375" lvl="2" indent="-285750">
              <a:lnSpc>
                <a:spcPct val="150000"/>
              </a:lnSpc>
              <a:buFont typeface="Arial" panose="020B0604020202020204" pitchFamily="34" charset="0"/>
              <a:buChar char="•"/>
            </a:pPr>
            <a:r>
              <a:rPr lang="en-IN" b="1" dirty="0"/>
              <a:t>JDBC Tutorial – </a:t>
            </a:r>
            <a:r>
              <a:rPr lang="en-IN" b="1" dirty="0" err="1"/>
              <a:t>GeeksforGeeks</a:t>
            </a:r>
            <a:r>
              <a:rPr lang="en-IN" dirty="0"/>
              <a:t>,</a:t>
            </a:r>
            <a:br>
              <a:rPr lang="en-IN" dirty="0"/>
            </a:br>
            <a:r>
              <a:rPr lang="en-IN" dirty="0"/>
              <a:t>https://www.geeksforgeeks.org/jdbc/</a:t>
            </a:r>
          </a:p>
          <a:p>
            <a:pPr marL="714375" lvl="2" indent="-285750">
              <a:lnSpc>
                <a:spcPct val="150000"/>
              </a:lnSpc>
              <a:buFont typeface="Arial" panose="020B0604020202020204" pitchFamily="34" charset="0"/>
              <a:buChar char="•"/>
            </a:pPr>
            <a:r>
              <a:rPr lang="en-IN" b="1" dirty="0"/>
              <a:t>Java Swing Tutorial – </a:t>
            </a:r>
            <a:r>
              <a:rPr lang="en-IN" b="1" dirty="0" err="1"/>
              <a:t>TutorialsPoint</a:t>
            </a:r>
            <a:r>
              <a:rPr lang="en-IN" dirty="0"/>
              <a:t>,</a:t>
            </a:r>
            <a:br>
              <a:rPr lang="en-IN" dirty="0"/>
            </a:br>
            <a:r>
              <a:rPr lang="en-IN" dirty="0"/>
              <a:t>https://www.tutorialspoint.com/java_swing</a:t>
            </a:r>
          </a:p>
          <a:p>
            <a:pPr marL="714375" lvl="2" indent="-285750">
              <a:lnSpc>
                <a:spcPct val="150000"/>
              </a:lnSpc>
              <a:buFont typeface="Arial" panose="020B0604020202020204" pitchFamily="34" charset="0"/>
              <a:buChar char="•"/>
            </a:pPr>
            <a:r>
              <a:rPr lang="en-IN" b="1" dirty="0"/>
              <a:t>W3Schools Java Tutorial</a:t>
            </a:r>
            <a:r>
              <a:rPr lang="en-IN" dirty="0"/>
              <a:t>,</a:t>
            </a:r>
            <a:br>
              <a:rPr lang="en-IN" dirty="0"/>
            </a:br>
            <a:r>
              <a:rPr lang="en-IN" u="sng" dirty="0">
                <a:hlinkClick r:id="rId3"/>
              </a:rPr>
              <a:t>https://www.w3schools.com/java/</a:t>
            </a:r>
            <a:endParaRPr lang="en-IN" dirty="0"/>
          </a:p>
          <a:p>
            <a:pPr algn="just">
              <a:lnSpc>
                <a:spcPct val="150000"/>
              </a:lnSpc>
            </a:pPr>
            <a:endParaRPr lang="en-IN" sz="2000" dirty="0"/>
          </a:p>
        </p:txBody>
      </p:sp>
      <p:grpSp>
        <p:nvGrpSpPr>
          <p:cNvPr id="7" name="object 3">
            <a:extLst>
              <a:ext uri="{FF2B5EF4-FFF2-40B4-BE49-F238E27FC236}">
                <a16:creationId xmlns:a16="http://schemas.microsoft.com/office/drawing/2014/main" id="{32D71BC4-812B-11BE-6A6C-1CA5A91B779D}"/>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6897A887-118D-142E-FC3E-D6BE5C1E9795}"/>
                </a:ext>
              </a:extLst>
            </p:cNvPr>
            <p:cNvPicPr/>
            <p:nvPr/>
          </p:nvPicPr>
          <p:blipFill>
            <a:blip r:embed="rId4"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A69A73B6-BAAC-6763-2263-E88C0E65C7C3}"/>
                </a:ext>
              </a:extLst>
            </p:cNvPr>
            <p:cNvPicPr/>
            <p:nvPr/>
          </p:nvPicPr>
          <p:blipFill>
            <a:blip r:embed="rId5"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B12E086F-BA20-7EBA-DFAA-D7884D2F86C0}"/>
                </a:ext>
              </a:extLst>
            </p:cNvPr>
            <p:cNvPicPr/>
            <p:nvPr/>
          </p:nvPicPr>
          <p:blipFill>
            <a:blip r:embed="rId6"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CD22B9F6-01CA-54BB-97B5-0180CEF24C6E}"/>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E459A9DA-9776-0281-AD94-A452E7257896}"/>
              </a:ext>
            </a:extLst>
          </p:cNvPr>
          <p:cNvSpPr txBox="1">
            <a:spLocks noGrp="1"/>
          </p:cNvSpPr>
          <p:nvPr>
            <p:ph type="title"/>
          </p:nvPr>
        </p:nvSpPr>
        <p:spPr>
          <a:xfrm>
            <a:off x="4194015" y="429568"/>
            <a:ext cx="27603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References</a:t>
            </a:r>
          </a:p>
        </p:txBody>
      </p:sp>
      <p:pic>
        <p:nvPicPr>
          <p:cNvPr id="13" name="object 3">
            <a:extLst>
              <a:ext uri="{FF2B5EF4-FFF2-40B4-BE49-F238E27FC236}">
                <a16:creationId xmlns:a16="http://schemas.microsoft.com/office/drawing/2014/main" id="{6E0266AA-A7A6-E24C-77B4-437EA2766279}"/>
              </a:ext>
            </a:extLst>
          </p:cNvPr>
          <p:cNvPicPr/>
          <p:nvPr/>
        </p:nvPicPr>
        <p:blipFill>
          <a:blip r:embed="rId7"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21820207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ABB4592-5775-79D7-4F02-0BE4F7025B51}"/>
              </a:ext>
            </a:extLst>
          </p:cNvPr>
          <p:cNvSpPr txBox="1"/>
          <p:nvPr/>
        </p:nvSpPr>
        <p:spPr>
          <a:xfrm>
            <a:off x="381000" y="1323261"/>
            <a:ext cx="9448800" cy="3728649"/>
          </a:xfrm>
          <a:prstGeom prst="rect">
            <a:avLst/>
          </a:prstGeom>
          <a:noFill/>
        </p:spPr>
        <p:txBody>
          <a:bodyPr wrap="square" rtlCol="0">
            <a:spAutoFit/>
          </a:bodyPr>
          <a:lstStyle/>
          <a:p>
            <a:pPr algn="just">
              <a:lnSpc>
                <a:spcPct val="150000"/>
              </a:lnSpc>
            </a:pPr>
            <a:r>
              <a:rPr lang="en-US" sz="2000" dirty="0"/>
              <a:t>The E-Commerce Application successfully provides an efficient and organized solution for managing products, cart operations, and order processing, replacing manual methods with improved accuracy and reliability. Built using Java, Swing, JDBC, and MySQL, it ensures secure data handling and smooth user interaction through a user-friendly interface. The system enhances efficiency, reduces manual effort, and delivers a simplified shopping experience. Its modular design allows easy scalability, effectively demonstrating the core functionalities of an online e-commerce system.</a:t>
            </a:r>
          </a:p>
        </p:txBody>
      </p:sp>
      <p:grpSp>
        <p:nvGrpSpPr>
          <p:cNvPr id="7" name="object 3">
            <a:extLst>
              <a:ext uri="{FF2B5EF4-FFF2-40B4-BE49-F238E27FC236}">
                <a16:creationId xmlns:a16="http://schemas.microsoft.com/office/drawing/2014/main" id="{20B8B724-A73F-F006-222B-6A4FF27EB83E}"/>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8D96FE08-6C48-29F6-B8BF-733A1FE4EFC2}"/>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F663E0BF-F2C3-9990-10F0-85152F3B7499}"/>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AF92C391-8A67-101D-C7DE-D42721562E91}"/>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5C67209A-2109-EE49-1C12-165FDE2056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F513CBE2-66AF-A982-0CC5-B24C79BA9503}"/>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CONCLUSION</a:t>
            </a:r>
          </a:p>
        </p:txBody>
      </p:sp>
      <p:pic>
        <p:nvPicPr>
          <p:cNvPr id="13" name="object 3">
            <a:extLst>
              <a:ext uri="{FF2B5EF4-FFF2-40B4-BE49-F238E27FC236}">
                <a16:creationId xmlns:a16="http://schemas.microsoft.com/office/drawing/2014/main" id="{A2CEDFE4-2383-831F-CDEE-1CF3B0215E16}"/>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26941927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5B32A-9B14-7FA0-D59B-AF32355B7813}"/>
              </a:ext>
            </a:extLst>
          </p:cNvPr>
          <p:cNvSpPr>
            <a:spLocks noGrp="1"/>
          </p:cNvSpPr>
          <p:nvPr>
            <p:ph type="ctrTitle"/>
          </p:nvPr>
        </p:nvSpPr>
        <p:spPr>
          <a:xfrm>
            <a:off x="3200400" y="3352800"/>
            <a:ext cx="4038600" cy="738664"/>
          </a:xfrm>
        </p:spPr>
        <p:txBody>
          <a:bodyPr/>
          <a:lstStyle/>
          <a:p>
            <a:r>
              <a:rPr lang="en-IN" sz="4800" dirty="0">
                <a:solidFill>
                  <a:schemeClr val="accent6">
                    <a:lumMod val="75000"/>
                  </a:schemeClr>
                </a:solidFill>
              </a:rPr>
              <a:t>THANK YOU</a:t>
            </a:r>
          </a:p>
        </p:txBody>
      </p:sp>
      <p:pic>
        <p:nvPicPr>
          <p:cNvPr id="4" name="object 3">
            <a:extLst>
              <a:ext uri="{FF2B5EF4-FFF2-40B4-BE49-F238E27FC236}">
                <a16:creationId xmlns:a16="http://schemas.microsoft.com/office/drawing/2014/main" id="{82A927C3-140A-7ABC-91C2-249562DF33FB}"/>
              </a:ext>
            </a:extLst>
          </p:cNvPr>
          <p:cNvPicPr/>
          <p:nvPr/>
        </p:nvPicPr>
        <p:blipFill>
          <a:blip r:embed="rId2"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746778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2597</TotalTime>
  <Words>1144</Words>
  <Application>Microsoft Office PowerPoint</Application>
  <PresentationFormat>Custom</PresentationFormat>
  <Paragraphs>112</Paragraphs>
  <Slides>20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Cambria</vt:lpstr>
      <vt:lpstr>Palatino Linotype</vt:lpstr>
      <vt:lpstr>Times New Roman</vt:lpstr>
      <vt:lpstr>Office Theme</vt:lpstr>
      <vt:lpstr>Java Programming Cornerstone Project Final Review</vt:lpstr>
      <vt:lpstr>PowerPoint Presentation</vt:lpstr>
      <vt:lpstr>ABSTRACT</vt:lpstr>
      <vt:lpstr>PowerPoint Presentation</vt:lpstr>
      <vt:lpstr>PowerPoint Presentation</vt:lpstr>
      <vt:lpstr>PowerPoint Presentation</vt:lpstr>
      <vt:lpstr>Database Design</vt:lpstr>
      <vt:lpstr>Database Design</vt:lpstr>
      <vt:lpstr>Database Design</vt:lpstr>
      <vt:lpstr>Database Design</vt:lpstr>
      <vt:lpstr>SYSTEM DESIGN</vt:lpstr>
      <vt:lpstr>System Implementation</vt:lpstr>
      <vt:lpstr>System Implementation</vt:lpstr>
      <vt:lpstr>System Implementation</vt:lpstr>
      <vt:lpstr>System Implementation</vt:lpstr>
      <vt:lpstr>System Implementation</vt:lpstr>
      <vt:lpstr>Future Enhancements</vt:lpstr>
      <vt:lpstr>References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Zeroth Review</dc:title>
  <dc:creator>RESHMA BASAPATHI</dc:creator>
  <cp:lastModifiedBy>24B11DS216</cp:lastModifiedBy>
  <cp:revision>52</cp:revision>
  <cp:lastPrinted>2025-10-14T18:21:49Z</cp:lastPrinted>
  <dcterms:created xsi:type="dcterms:W3CDTF">2025-10-10T08:28:06Z</dcterms:created>
  <dcterms:modified xsi:type="dcterms:W3CDTF">2026-04-05T15:46:36Z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LastSaved">
    <vt:filetime>2025-10-10T00:00:00Z</vt:filetime>
  </property>
</Properties>
</file>